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2" r:id="rId2"/>
    <p:sldId id="273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213A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6213A"/>
                </a:solidFill>
                <a:latin typeface="Arial"/>
              </a:rPr>
              <a:t>R² Score by Model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Score</c:v>
                </c:pt>
              </c:strCache>
            </c:strRef>
          </c:tx>
          <c:spPr>
            <a:solidFill>
              <a:srgbClr val="1B9AA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621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Random
Forest</c:v>
                </c:pt>
                <c:pt idx="1">
                  <c:v>XGBoost</c:v>
                </c:pt>
                <c:pt idx="2">
                  <c:v>Linear
Reg.</c:v>
                </c:pt>
                <c:pt idx="3">
                  <c:v>Ridge
(L2)</c:v>
                </c:pt>
                <c:pt idx="4">
                  <c:v>Lasso
(L1)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0.8851</c:v>
                </c:pt>
                <c:pt idx="3">
                  <c:v>0.8851</c:v>
                </c:pt>
                <c:pt idx="4">
                  <c:v>0.88500000000000001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2D-4BEE-99A0-268ACCBFF7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0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213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16213A"/>
                </a:solidFill>
                <a:latin typeface="Arial"/>
              </a:rPr>
              <a:t>RMSE by Model (lower = better)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621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Random
Forest</c:v>
                </c:pt>
                <c:pt idx="1">
                  <c:v>XGBoost</c:v>
                </c:pt>
                <c:pt idx="2">
                  <c:v>Linear
Reg.</c:v>
                </c:pt>
                <c:pt idx="3">
                  <c:v>Ridge
(L2)</c:v>
                </c:pt>
                <c:pt idx="4">
                  <c:v>Lasso
(L1)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2.41E-2</c:v>
                </c:pt>
                <c:pt idx="1">
                  <c:v>0.59179999999999999</c:v>
                </c:pt>
                <c:pt idx="2">
                  <c:v>39.8322</c:v>
                </c:pt>
                <c:pt idx="3">
                  <c:v>39.832500000000003</c:v>
                </c:pt>
                <c:pt idx="4">
                  <c:v>39.8504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4D-4621-98D9-C9BA8CB5C1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213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16213A"/>
                </a:solidFill>
                <a:latin typeface="Arial"/>
              </a:rPr>
              <a:t>Actual vs Predicted (Random Forest, test set)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ln w="25400" cap="flat">
              <a:solidFill>
                <a:srgbClr val="1B9AA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9AAA"/>
              </a:solidFill>
              <a:ln w="9525" cap="flat">
                <a:solidFill>
                  <a:srgbClr val="1B9AAA"/>
                </a:solidFill>
                <a:prstDash val="solid"/>
                <a:round/>
              </a:ln>
              <a:effectLst/>
            </c:spPr>
          </c:marker>
          <c:cat>
            <c:strRef>
              <c:f>Sheet1!$A$2:$A$41</c:f>
              <c:strCache>
                <c:ptCount val="40"/>
                <c:pt idx="0">
                  <c:v>26</c:v>
                </c:pt>
                <c:pt idx="1">
                  <c:v>42</c:v>
                </c:pt>
                <c:pt idx="2">
                  <c:v>43</c:v>
                </c:pt>
                <c:pt idx="3">
                  <c:v>62</c:v>
                </c:pt>
                <c:pt idx="4">
                  <c:v>64</c:v>
                </c:pt>
                <c:pt idx="5">
                  <c:v>72</c:v>
                </c:pt>
                <c:pt idx="6">
                  <c:v>81</c:v>
                </c:pt>
                <c:pt idx="7">
                  <c:v>90</c:v>
                </c:pt>
                <c:pt idx="8">
                  <c:v>93</c:v>
                </c:pt>
                <c:pt idx="9">
                  <c:v>126</c:v>
                </c:pt>
                <c:pt idx="10">
                  <c:v>139</c:v>
                </c:pt>
                <c:pt idx="11">
                  <c:v>143</c:v>
                </c:pt>
                <c:pt idx="12">
                  <c:v>150</c:v>
                </c:pt>
                <c:pt idx="13">
                  <c:v>185</c:v>
                </c:pt>
                <c:pt idx="14">
                  <c:v>221</c:v>
                </c:pt>
                <c:pt idx="15">
                  <c:v>231</c:v>
                </c:pt>
                <c:pt idx="16">
                  <c:v>231</c:v>
                </c:pt>
                <c:pt idx="17">
                  <c:v>233</c:v>
                </c:pt>
                <c:pt idx="18">
                  <c:v>235</c:v>
                </c:pt>
                <c:pt idx="19">
                  <c:v>237</c:v>
                </c:pt>
                <c:pt idx="20">
                  <c:v>237</c:v>
                </c:pt>
                <c:pt idx="21">
                  <c:v>248</c:v>
                </c:pt>
                <c:pt idx="22">
                  <c:v>258</c:v>
                </c:pt>
                <c:pt idx="23">
                  <c:v>262</c:v>
                </c:pt>
                <c:pt idx="24">
                  <c:v>288</c:v>
                </c:pt>
                <c:pt idx="25">
                  <c:v>295</c:v>
                </c:pt>
                <c:pt idx="26">
                  <c:v>310</c:v>
                </c:pt>
                <c:pt idx="27">
                  <c:v>317</c:v>
                </c:pt>
                <c:pt idx="28">
                  <c:v>345</c:v>
                </c:pt>
                <c:pt idx="29">
                  <c:v>353</c:v>
                </c:pt>
                <c:pt idx="30">
                  <c:v>353</c:v>
                </c:pt>
                <c:pt idx="31">
                  <c:v>358</c:v>
                </c:pt>
                <c:pt idx="32">
                  <c:v>390</c:v>
                </c:pt>
                <c:pt idx="33">
                  <c:v>393</c:v>
                </c:pt>
                <c:pt idx="34">
                  <c:v>399</c:v>
                </c:pt>
                <c:pt idx="35">
                  <c:v>451</c:v>
                </c:pt>
                <c:pt idx="36">
                  <c:v>487</c:v>
                </c:pt>
                <c:pt idx="37">
                  <c:v>493</c:v>
                </c:pt>
                <c:pt idx="38">
                  <c:v>502</c:v>
                </c:pt>
                <c:pt idx="39">
                  <c:v>502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26</c:v>
                </c:pt>
                <c:pt idx="1">
                  <c:v>42.2</c:v>
                </c:pt>
                <c:pt idx="2">
                  <c:v>42.8</c:v>
                </c:pt>
                <c:pt idx="3">
                  <c:v>61.5</c:v>
                </c:pt>
                <c:pt idx="4">
                  <c:v>64.3</c:v>
                </c:pt>
                <c:pt idx="5">
                  <c:v>72.3</c:v>
                </c:pt>
                <c:pt idx="6">
                  <c:v>81.5</c:v>
                </c:pt>
                <c:pt idx="7">
                  <c:v>90.3</c:v>
                </c:pt>
                <c:pt idx="8">
                  <c:v>93.3</c:v>
                </c:pt>
                <c:pt idx="9">
                  <c:v>126.1</c:v>
                </c:pt>
                <c:pt idx="10">
                  <c:v>139.4</c:v>
                </c:pt>
                <c:pt idx="11">
                  <c:v>142.69999999999999</c:v>
                </c:pt>
                <c:pt idx="12">
                  <c:v>150.1</c:v>
                </c:pt>
                <c:pt idx="13">
                  <c:v>185.3</c:v>
                </c:pt>
                <c:pt idx="14">
                  <c:v>220.7</c:v>
                </c:pt>
                <c:pt idx="15">
                  <c:v>230.6</c:v>
                </c:pt>
                <c:pt idx="16">
                  <c:v>231</c:v>
                </c:pt>
                <c:pt idx="17">
                  <c:v>233.2</c:v>
                </c:pt>
                <c:pt idx="18">
                  <c:v>234.5</c:v>
                </c:pt>
                <c:pt idx="19">
                  <c:v>237</c:v>
                </c:pt>
                <c:pt idx="20">
                  <c:v>237.2</c:v>
                </c:pt>
                <c:pt idx="21">
                  <c:v>247.6</c:v>
                </c:pt>
                <c:pt idx="22">
                  <c:v>258</c:v>
                </c:pt>
                <c:pt idx="23">
                  <c:v>262.2</c:v>
                </c:pt>
                <c:pt idx="24">
                  <c:v>287.60000000000002</c:v>
                </c:pt>
                <c:pt idx="25">
                  <c:v>294.60000000000002</c:v>
                </c:pt>
                <c:pt idx="26">
                  <c:v>309.89999999999998</c:v>
                </c:pt>
                <c:pt idx="27">
                  <c:v>316.89999999999998</c:v>
                </c:pt>
                <c:pt idx="28">
                  <c:v>345.5</c:v>
                </c:pt>
                <c:pt idx="29">
                  <c:v>353</c:v>
                </c:pt>
                <c:pt idx="30">
                  <c:v>353.1</c:v>
                </c:pt>
                <c:pt idx="31">
                  <c:v>357.8</c:v>
                </c:pt>
                <c:pt idx="32">
                  <c:v>390.3</c:v>
                </c:pt>
                <c:pt idx="33">
                  <c:v>392.6</c:v>
                </c:pt>
                <c:pt idx="34">
                  <c:v>398.7</c:v>
                </c:pt>
                <c:pt idx="35">
                  <c:v>450.8</c:v>
                </c:pt>
                <c:pt idx="36">
                  <c:v>486.7</c:v>
                </c:pt>
                <c:pt idx="37">
                  <c:v>493.1</c:v>
                </c:pt>
                <c:pt idx="38">
                  <c:v>501.5</c:v>
                </c:pt>
                <c:pt idx="39">
                  <c:v>501.8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C7F-4DA2-92A5-50108D0BB2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Perfect Prediction (y = x)</c:v>
                </c:pt>
              </c:strCache>
            </c:strRef>
          </c:tx>
          <c:spPr>
            <a:ln w="25400" cap="flat">
              <a:solidFill>
                <a:srgbClr val="C0443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443B"/>
              </a:solidFill>
              <a:ln w="9525" cap="flat">
                <a:solidFill>
                  <a:srgbClr val="C0443B"/>
                </a:solidFill>
                <a:prstDash val="solid"/>
                <a:round/>
              </a:ln>
              <a:effectLst/>
            </c:spPr>
          </c:marker>
          <c:cat>
            <c:strRef>
              <c:f>Sheet1!$A$2:$A$41</c:f>
              <c:strCache>
                <c:ptCount val="40"/>
                <c:pt idx="0">
                  <c:v>26</c:v>
                </c:pt>
                <c:pt idx="1">
                  <c:v>42</c:v>
                </c:pt>
                <c:pt idx="2">
                  <c:v>43</c:v>
                </c:pt>
                <c:pt idx="3">
                  <c:v>62</c:v>
                </c:pt>
                <c:pt idx="4">
                  <c:v>64</c:v>
                </c:pt>
                <c:pt idx="5">
                  <c:v>72</c:v>
                </c:pt>
                <c:pt idx="6">
                  <c:v>81</c:v>
                </c:pt>
                <c:pt idx="7">
                  <c:v>90</c:v>
                </c:pt>
                <c:pt idx="8">
                  <c:v>93</c:v>
                </c:pt>
                <c:pt idx="9">
                  <c:v>126</c:v>
                </c:pt>
                <c:pt idx="10">
                  <c:v>139</c:v>
                </c:pt>
                <c:pt idx="11">
                  <c:v>143</c:v>
                </c:pt>
                <c:pt idx="12">
                  <c:v>150</c:v>
                </c:pt>
                <c:pt idx="13">
                  <c:v>185</c:v>
                </c:pt>
                <c:pt idx="14">
                  <c:v>221</c:v>
                </c:pt>
                <c:pt idx="15">
                  <c:v>231</c:v>
                </c:pt>
                <c:pt idx="16">
                  <c:v>231</c:v>
                </c:pt>
                <c:pt idx="17">
                  <c:v>233</c:v>
                </c:pt>
                <c:pt idx="18">
                  <c:v>235</c:v>
                </c:pt>
                <c:pt idx="19">
                  <c:v>237</c:v>
                </c:pt>
                <c:pt idx="20">
                  <c:v>237</c:v>
                </c:pt>
                <c:pt idx="21">
                  <c:v>248</c:v>
                </c:pt>
                <c:pt idx="22">
                  <c:v>258</c:v>
                </c:pt>
                <c:pt idx="23">
                  <c:v>262</c:v>
                </c:pt>
                <c:pt idx="24">
                  <c:v>288</c:v>
                </c:pt>
                <c:pt idx="25">
                  <c:v>295</c:v>
                </c:pt>
                <c:pt idx="26">
                  <c:v>310</c:v>
                </c:pt>
                <c:pt idx="27">
                  <c:v>317</c:v>
                </c:pt>
                <c:pt idx="28">
                  <c:v>345</c:v>
                </c:pt>
                <c:pt idx="29">
                  <c:v>353</c:v>
                </c:pt>
                <c:pt idx="30">
                  <c:v>353</c:v>
                </c:pt>
                <c:pt idx="31">
                  <c:v>358</c:v>
                </c:pt>
                <c:pt idx="32">
                  <c:v>390</c:v>
                </c:pt>
                <c:pt idx="33">
                  <c:v>393</c:v>
                </c:pt>
                <c:pt idx="34">
                  <c:v>399</c:v>
                </c:pt>
                <c:pt idx="35">
                  <c:v>451</c:v>
                </c:pt>
                <c:pt idx="36">
                  <c:v>487</c:v>
                </c:pt>
                <c:pt idx="37">
                  <c:v>493</c:v>
                </c:pt>
                <c:pt idx="38">
                  <c:v>502</c:v>
                </c:pt>
                <c:pt idx="39">
                  <c:v>502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26</c:v>
                </c:pt>
                <c:pt idx="1">
                  <c:v>42</c:v>
                </c:pt>
                <c:pt idx="2">
                  <c:v>43</c:v>
                </c:pt>
                <c:pt idx="3">
                  <c:v>62</c:v>
                </c:pt>
                <c:pt idx="4">
                  <c:v>64</c:v>
                </c:pt>
                <c:pt idx="5">
                  <c:v>72</c:v>
                </c:pt>
                <c:pt idx="6">
                  <c:v>81</c:v>
                </c:pt>
                <c:pt idx="7">
                  <c:v>90</c:v>
                </c:pt>
                <c:pt idx="8">
                  <c:v>93</c:v>
                </c:pt>
                <c:pt idx="9">
                  <c:v>126</c:v>
                </c:pt>
                <c:pt idx="10">
                  <c:v>139</c:v>
                </c:pt>
                <c:pt idx="11">
                  <c:v>143</c:v>
                </c:pt>
                <c:pt idx="12">
                  <c:v>150</c:v>
                </c:pt>
                <c:pt idx="13">
                  <c:v>185</c:v>
                </c:pt>
                <c:pt idx="14">
                  <c:v>221</c:v>
                </c:pt>
                <c:pt idx="15">
                  <c:v>231</c:v>
                </c:pt>
                <c:pt idx="16">
                  <c:v>231</c:v>
                </c:pt>
                <c:pt idx="17">
                  <c:v>233</c:v>
                </c:pt>
                <c:pt idx="18">
                  <c:v>235</c:v>
                </c:pt>
                <c:pt idx="19">
                  <c:v>237</c:v>
                </c:pt>
                <c:pt idx="20">
                  <c:v>237</c:v>
                </c:pt>
                <c:pt idx="21">
                  <c:v>248</c:v>
                </c:pt>
                <c:pt idx="22">
                  <c:v>258</c:v>
                </c:pt>
                <c:pt idx="23">
                  <c:v>262</c:v>
                </c:pt>
                <c:pt idx="24">
                  <c:v>288</c:v>
                </c:pt>
                <c:pt idx="25">
                  <c:v>295</c:v>
                </c:pt>
                <c:pt idx="26">
                  <c:v>310</c:v>
                </c:pt>
                <c:pt idx="27">
                  <c:v>317</c:v>
                </c:pt>
                <c:pt idx="28">
                  <c:v>345</c:v>
                </c:pt>
                <c:pt idx="29">
                  <c:v>353</c:v>
                </c:pt>
                <c:pt idx="30">
                  <c:v>353</c:v>
                </c:pt>
                <c:pt idx="31">
                  <c:v>358</c:v>
                </c:pt>
                <c:pt idx="32">
                  <c:v>390</c:v>
                </c:pt>
                <c:pt idx="33">
                  <c:v>393</c:v>
                </c:pt>
                <c:pt idx="34">
                  <c:v>399</c:v>
                </c:pt>
                <c:pt idx="35">
                  <c:v>451</c:v>
                </c:pt>
                <c:pt idx="36">
                  <c:v>487</c:v>
                </c:pt>
                <c:pt idx="37">
                  <c:v>493</c:v>
                </c:pt>
                <c:pt idx="38">
                  <c:v>502</c:v>
                </c:pt>
                <c:pt idx="39">
                  <c:v>502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C7F-4DA2-92A5-50108D0BB2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b="0" i="0" u="none" strike="noStrike">
                    <a:solidFill>
                      <a:srgbClr val="000000"/>
                    </a:solidFill>
                    <a:latin typeface="Arial"/>
                  </a:rPr>
                  <a:t>Actual Patent Count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b="0" i="0" u="none" strike="noStrike">
                    <a:solidFill>
                      <a:srgbClr val="000000"/>
                    </a:solidFill>
                    <a:latin typeface="Arial"/>
                  </a:rPr>
                  <a:t>Predicted Patent Count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6213A"/>
                </a:solidFill>
                <a:latin typeface="Arial"/>
              </a:defRPr>
            </a:pPr>
            <a:r>
              <a:rPr lang="en-US" sz="1050" b="0" i="0" u="none" strike="noStrike">
                <a:solidFill>
                  <a:srgbClr val="16213A"/>
                </a:solidFill>
                <a:latin typeface="Arial"/>
              </a:rPr>
              <a:t>Prediction Error Distribution (Actual − Predicted)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0B1F3A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-120</c:v>
                </c:pt>
                <c:pt idx="1">
                  <c:v>-90</c:v>
                </c:pt>
                <c:pt idx="2">
                  <c:v>-60</c:v>
                </c:pt>
                <c:pt idx="3">
                  <c:v>-30</c:v>
                </c:pt>
                <c:pt idx="4">
                  <c:v>0</c:v>
                </c:pt>
                <c:pt idx="5">
                  <c:v>30</c:v>
                </c:pt>
                <c:pt idx="6">
                  <c:v>60</c:v>
                </c:pt>
                <c:pt idx="7">
                  <c:v>90</c:v>
                </c:pt>
                <c:pt idx="8">
                  <c:v>120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8</c:v>
                </c:pt>
                <c:pt idx="2">
                  <c:v>22</c:v>
                </c:pt>
                <c:pt idx="3">
                  <c:v>55</c:v>
                </c:pt>
                <c:pt idx="4">
                  <c:v>98</c:v>
                </c:pt>
                <c:pt idx="5">
                  <c:v>60</c:v>
                </c:pt>
                <c:pt idx="6">
                  <c:v>28</c:v>
                </c:pt>
                <c:pt idx="7">
                  <c:v>10</c:v>
                </c:pt>
                <c:pt idx="8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FA3-497F-B5CE-6B2DF04F9E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6213A"/>
                </a:solidFill>
                <a:latin typeface="Arial"/>
              </a:defRPr>
            </a:pPr>
            <a:r>
              <a:rPr lang="en-US" sz="1050" b="0" i="0" u="none" strike="noStrike">
                <a:solidFill>
                  <a:srgbClr val="16213A"/>
                </a:solidFill>
                <a:latin typeface="Arial"/>
              </a:rPr>
              <a:t>Top Feature Coefficients (Linear Regression)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|Coefficient|</c:v>
                </c:pt>
              </c:strCache>
            </c:strRef>
          </c:tx>
          <c:spPr>
            <a:solidFill>
              <a:srgbClr val="1B9AAA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patent_count_roll4_mean</c:v>
                </c:pt>
                <c:pt idx="1">
                  <c:v>patent_count_lag1</c:v>
                </c:pt>
                <c:pt idx="2">
                  <c:v>patent_count_roll8_mean</c:v>
                </c:pt>
                <c:pt idx="3">
                  <c:v>patent_count_lag2</c:v>
                </c:pt>
                <c:pt idx="4">
                  <c:v>kw_ai_ml</c:v>
                </c:pt>
                <c:pt idx="5">
                  <c:v>patent_count_qoq</c:v>
                </c:pt>
                <c:pt idx="6">
                  <c:v>keyword_score</c:v>
                </c:pt>
                <c:pt idx="7">
                  <c:v>year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42.1</c:v>
                </c:pt>
                <c:pt idx="1">
                  <c:v>35.6</c:v>
                </c:pt>
                <c:pt idx="2">
                  <c:v>28.4</c:v>
                </c:pt>
                <c:pt idx="3">
                  <c:v>19.2</c:v>
                </c:pt>
                <c:pt idx="4">
                  <c:v>12.8</c:v>
                </c:pt>
                <c:pt idx="5">
                  <c:v>9.5</c:v>
                </c:pt>
                <c:pt idx="6">
                  <c:v>7.1</c:v>
                </c:pt>
                <c:pt idx="7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38-47B0-A4A3-555CAD01E7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7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1095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version: definition + process flow on top, six business-benefit cards below. Close with: 'This is exactly why predicting patent filing trends has real commercial value — it's not just a data exercise.'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a question: 'What if you could predict a company's next R&amp;D move just by reading its patents?' Pause after each stat card. Land on: 5G licensing alone is a $15B/year market, so this has real commercial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PATENTS 101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18873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Patent — and Why File One?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12648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patent is a </a:t>
            </a:r>
            <a:r>
              <a:rPr lang="en-US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right</a:t>
            </a:r>
            <a:r>
              <a:rPr lang="en-US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granted by a government that gives an inventor </a:t>
            </a:r>
            <a:r>
              <a:rPr lang="en-US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control</a:t>
            </a:r>
            <a:r>
              <a:rPr lang="en-US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their invention for a limited period — typically 20 years — in exchange for public disclosure.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40080" y="2419270"/>
            <a:ext cx="1956816" cy="594360"/>
          </a:xfrm>
          <a:prstGeom prst="roundRect">
            <a:avLst>
              <a:gd name="adj" fmla="val 9231"/>
            </a:avLst>
          </a:prstGeom>
          <a:solidFill>
            <a:srgbClr val="EAF4F8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640080" y="2419270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96896" y="241927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71216" y="2419270"/>
            <a:ext cx="1956816" cy="594360"/>
          </a:xfrm>
          <a:prstGeom prst="roundRect">
            <a:avLst>
              <a:gd name="adj" fmla="val 9231"/>
            </a:avLst>
          </a:prstGeom>
          <a:solidFill>
            <a:srgbClr val="EAF4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71216" y="2419270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28032" y="241927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102352" y="2419270"/>
            <a:ext cx="1956816" cy="594360"/>
          </a:xfrm>
          <a:prstGeom prst="roundRect">
            <a:avLst>
              <a:gd name="adj" fmla="val 9231"/>
            </a:avLst>
          </a:prstGeom>
          <a:solidFill>
            <a:srgbClr val="EAF4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02352" y="2419270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59168" y="241927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33488" y="2419270"/>
            <a:ext cx="1956816" cy="594360"/>
          </a:xfrm>
          <a:prstGeom prst="roundRect">
            <a:avLst>
              <a:gd name="adj" fmla="val 9231"/>
            </a:avLst>
          </a:prstGeom>
          <a:solidFill>
            <a:srgbClr val="EAF4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33488" y="2419270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90304" y="241927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64624" y="2419270"/>
            <a:ext cx="1956816" cy="594360"/>
          </a:xfrm>
          <a:prstGeom prst="roundRect">
            <a:avLst>
              <a:gd name="adj" fmla="val 9231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64624" y="2419270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(20 yrs)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benefits of filing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3715968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EAF4F8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98848"/>
            <a:ext cx="310896" cy="31089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234440" y="38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Exclusivity</a:t>
            </a: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822960" y="431032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competitors from copying, protects market share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416552" y="3715968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EAF4F8"/>
          </a:solidFill>
          <a:ln/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3898848"/>
            <a:ext cx="310896" cy="310896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010912" y="38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revenue</a:t>
            </a: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4599432" y="431032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Royalties — billions/year for firms like Ericsson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8193024" y="3715968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EAF4F8"/>
          </a:solidFill>
          <a:ln/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5904" y="3898848"/>
            <a:ext cx="310896" cy="310896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8787384" y="38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Negotiating leverage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8375904" y="431032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in cross-licensing deals &amp; litigation defense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640080" y="5224728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EAF4F8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407608"/>
            <a:ext cx="310896" cy="31089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234440" y="53527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power</a:t>
            </a:r>
            <a:endParaRPr lang="en-US" dirty="0"/>
          </a:p>
        </p:txBody>
      </p:sp>
      <p:sp>
        <p:nvSpPr>
          <p:cNvPr id="35" name="Text 29"/>
          <p:cNvSpPr/>
          <p:nvPr/>
        </p:nvSpPr>
        <p:spPr>
          <a:xfrm>
            <a:off x="822960" y="581908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 force competitors to license to stay compliant</a:t>
            </a:r>
            <a:endParaRPr lang="en-US" sz="1600" dirty="0"/>
          </a:p>
        </p:txBody>
      </p:sp>
      <p:sp>
        <p:nvSpPr>
          <p:cNvPr id="36" name="Shape 30"/>
          <p:cNvSpPr/>
          <p:nvPr/>
        </p:nvSpPr>
        <p:spPr>
          <a:xfrm>
            <a:off x="4416552" y="5224728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EAF4F8"/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432" y="5407608"/>
            <a:ext cx="310896" cy="31089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5010912" y="53527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confidence</a:t>
            </a:r>
            <a:endParaRPr lang="en-US" dirty="0"/>
          </a:p>
        </p:txBody>
      </p:sp>
      <p:sp>
        <p:nvSpPr>
          <p:cNvPr id="39" name="Text 32"/>
          <p:cNvSpPr/>
          <p:nvPr/>
        </p:nvSpPr>
        <p:spPr>
          <a:xfrm>
            <a:off x="4599432" y="581908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R&amp;D health, boosts valuation</a:t>
            </a:r>
            <a:endParaRPr lang="en-US" sz="1600" dirty="0"/>
          </a:p>
        </p:txBody>
      </p:sp>
      <p:sp>
        <p:nvSpPr>
          <p:cNvPr id="40" name="Shape 33"/>
          <p:cNvSpPr/>
          <p:nvPr/>
        </p:nvSpPr>
        <p:spPr>
          <a:xfrm>
            <a:off x="8193024" y="5224728"/>
            <a:ext cx="3520440" cy="1325880"/>
          </a:xfrm>
          <a:prstGeom prst="roundRect">
            <a:avLst>
              <a:gd name="adj" fmla="val 4828"/>
            </a:avLst>
          </a:prstGeom>
          <a:solidFill>
            <a:srgbClr val="EAF4F8"/>
          </a:solidFill>
          <a:ln/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5904" y="5407608"/>
            <a:ext cx="310896" cy="31089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8787384" y="53527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signaling</a:t>
            </a:r>
            <a:endParaRPr lang="en-US" dirty="0"/>
          </a:p>
        </p:txBody>
      </p:sp>
      <p:sp>
        <p:nvSpPr>
          <p:cNvPr id="43" name="Text 35"/>
          <p:cNvSpPr/>
          <p:nvPr/>
        </p:nvSpPr>
        <p:spPr>
          <a:xfrm>
            <a:off x="8375904" y="581908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trends reveal a company's next big bet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 bwMode="auto">
          <a:xfrm>
            <a:off x="640080" y="1241248"/>
            <a:ext cx="10936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5000"/>
              </a:lnSpc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</a:t>
            </a: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Swedish multinational telecom and networking technology company, founded in 1876 — one of the oldest and largest players in global communications infrastructure.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329771"/>
            <a:ext cx="2542032" cy="1783080"/>
          </a:xfrm>
          <a:prstGeom prst="roundRect">
            <a:avLst>
              <a:gd name="adj" fmla="val 4103"/>
            </a:avLst>
          </a:prstGeom>
          <a:solidFill>
            <a:srgbClr val="065A82">
              <a:alpha val="75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530939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988139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60,000+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22960" y="3500203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Ericsson patents worldwide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438144" y="2329771"/>
            <a:ext cx="2542032" cy="1783080"/>
          </a:xfrm>
          <a:prstGeom prst="roundRect">
            <a:avLst>
              <a:gd name="adj" fmla="val 4103"/>
            </a:avLst>
          </a:prstGeom>
          <a:solidFill>
            <a:srgbClr val="065A82">
              <a:alpha val="75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530939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21024" y="2988139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in 5G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3621024" y="3500203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17.6–20.1% of all essential 5G patents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236208" y="2329771"/>
            <a:ext cx="2542032" cy="1783080"/>
          </a:xfrm>
          <a:prstGeom prst="roundRect">
            <a:avLst>
              <a:gd name="adj" fmla="val 4103"/>
            </a:avLst>
          </a:prstGeom>
          <a:solidFill>
            <a:srgbClr val="065A82">
              <a:alpha val="75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2530939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19088" y="2988139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$15B/yr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6419088" y="3500203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5G SEP licensing market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9034272" y="2329771"/>
            <a:ext cx="2542032" cy="1783080"/>
          </a:xfrm>
          <a:prstGeom prst="roundRect">
            <a:avLst>
              <a:gd name="adj" fmla="val 4103"/>
            </a:avLst>
          </a:prstGeom>
          <a:solidFill>
            <a:srgbClr val="065A82">
              <a:alpha val="75000"/>
            </a:srgbClr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2530939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17152" y="2988139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30,000+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9217152" y="3500203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patent records, 1976–2025</a:t>
            </a:r>
            <a:endParaRPr lang="en-US" sz="1400" dirty="0"/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EFF50F08-0494-EDE3-BCE5-5D04C9D60548}"/>
              </a:ext>
            </a:extLst>
          </p:cNvPr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</a:t>
            </a:r>
            <a:endParaRPr lang="en-US" sz="1400" dirty="0"/>
          </a:p>
        </p:txBody>
      </p:sp>
      <p:pic>
        <p:nvPicPr>
          <p:cNvPr id="22" name="Image 0" descr="preencoded.png">
            <a:extLst>
              <a:ext uri="{FF2B5EF4-FFF2-40B4-BE49-F238E27FC236}">
                <a16:creationId xmlns:a16="http://schemas.microsoft.com/office/drawing/2014/main" id="{2E9C1AF6-8EA2-2083-4B08-8A1F904613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762661"/>
            <a:ext cx="347472" cy="347472"/>
          </a:xfrm>
          <a:prstGeom prst="rect">
            <a:avLst/>
          </a:prstGeom>
        </p:spPr>
      </p:pic>
      <p:sp>
        <p:nvSpPr>
          <p:cNvPr id="23" name="Text 3">
            <a:extLst>
              <a:ext uri="{FF2B5EF4-FFF2-40B4-BE49-F238E27FC236}">
                <a16:creationId xmlns:a16="http://schemas.microsoft.com/office/drawing/2014/main" id="{ABDBAEC0-BEDB-244F-3F2A-703FA65AA768}"/>
              </a:ext>
            </a:extLst>
          </p:cNvPr>
          <p:cNvSpPr/>
          <p:nvPr/>
        </p:nvSpPr>
        <p:spPr>
          <a:xfrm>
            <a:off x="1115568" y="4707797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DA158AB2-A172-1EFE-63BB-FB70384CEAC3}"/>
              </a:ext>
            </a:extLst>
          </p:cNvPr>
          <p:cNvSpPr/>
          <p:nvPr/>
        </p:nvSpPr>
        <p:spPr>
          <a:xfrm>
            <a:off x="2148840" y="4689509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Spearheaded early industry discussions defining 5G requirements</a:t>
            </a:r>
            <a:endParaRPr lang="en-US" sz="1150" dirty="0">
              <a:solidFill>
                <a:schemeClr val="bg1"/>
              </a:solidFill>
            </a:endParaRPr>
          </a:p>
        </p:txBody>
      </p:sp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AB524F44-9E96-C132-B983-416BCD75D7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475893"/>
            <a:ext cx="347472" cy="347472"/>
          </a:xfrm>
          <a:prstGeom prst="rect">
            <a:avLst/>
          </a:prstGeom>
        </p:spPr>
      </p:pic>
      <p:sp>
        <p:nvSpPr>
          <p:cNvPr id="26" name="Text 5">
            <a:extLst>
              <a:ext uri="{FF2B5EF4-FFF2-40B4-BE49-F238E27FC236}">
                <a16:creationId xmlns:a16="http://schemas.microsoft.com/office/drawing/2014/main" id="{9B49A111-0B54-CFD2-4E04-89FCC66D79EC}"/>
              </a:ext>
            </a:extLst>
          </p:cNvPr>
          <p:cNvSpPr/>
          <p:nvPr/>
        </p:nvSpPr>
        <p:spPr>
          <a:xfrm>
            <a:off x="1115568" y="5421029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9779A140-7EE9-9D46-DACC-F9A188BBF405}"/>
              </a:ext>
            </a:extLst>
          </p:cNvPr>
          <p:cNvSpPr/>
          <p:nvPr/>
        </p:nvSpPr>
        <p:spPr>
          <a:xfrm>
            <a:off x="2148840" y="5402741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 the largest patent application in cellular history</a:t>
            </a:r>
            <a:endParaRPr lang="en-US" sz="1150" dirty="0">
              <a:solidFill>
                <a:schemeClr val="bg1"/>
              </a:solidFill>
            </a:endParaRPr>
          </a:p>
        </p:txBody>
      </p:sp>
      <p:pic>
        <p:nvPicPr>
          <p:cNvPr id="28" name="Image 2" descr="preencoded.png">
            <a:extLst>
              <a:ext uri="{FF2B5EF4-FFF2-40B4-BE49-F238E27FC236}">
                <a16:creationId xmlns:a16="http://schemas.microsoft.com/office/drawing/2014/main" id="{1E60522A-908F-3053-0126-F36C12748A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6189125"/>
            <a:ext cx="347472" cy="347472"/>
          </a:xfrm>
          <a:prstGeom prst="rect">
            <a:avLst/>
          </a:prstGeom>
        </p:spPr>
      </p:pic>
      <p:sp>
        <p:nvSpPr>
          <p:cNvPr id="29" name="Text 7">
            <a:extLst>
              <a:ext uri="{FF2B5EF4-FFF2-40B4-BE49-F238E27FC236}">
                <a16:creationId xmlns:a16="http://schemas.microsoft.com/office/drawing/2014/main" id="{28228A43-90E6-C380-A55F-A2019931D9BC}"/>
              </a:ext>
            </a:extLst>
          </p:cNvPr>
          <p:cNvSpPr/>
          <p:nvPr/>
        </p:nvSpPr>
        <p:spPr>
          <a:xfrm>
            <a:off x="1115568" y="6134261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346883EE-DF39-2A52-DD7B-87BE9CC5DC00}"/>
              </a:ext>
            </a:extLst>
          </p:cNvPr>
          <p:cNvSpPr/>
          <p:nvPr/>
        </p:nvSpPr>
        <p:spPr>
          <a:xfrm>
            <a:off x="2148840" y="6115973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live commercial 5G across five continents; researching 6G</a:t>
            </a:r>
            <a:endParaRPr lang="en-US" sz="11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731520"/>
            <a:ext cx="91440" cy="91440"/>
          </a:xfrm>
          <a:prstGeom prst="ellipse">
            <a:avLst/>
          </a:prstGeom>
          <a:solidFill>
            <a:srgbClr val="1B9AAA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38360" y="731520"/>
            <a:ext cx="91440" cy="91440"/>
          </a:xfrm>
          <a:prstGeom prst="ellipse">
            <a:avLst/>
          </a:prstGeom>
          <a:solidFill>
            <a:srgbClr val="1B9AAA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731520"/>
            <a:ext cx="91440" cy="91440"/>
          </a:xfrm>
          <a:prstGeom prst="ellipse">
            <a:avLst/>
          </a:prstGeom>
          <a:solidFill>
            <a:srgbClr val="1B9AAA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1691640"/>
            <a:ext cx="91440" cy="91440"/>
          </a:xfrm>
          <a:prstGeom prst="ellipse">
            <a:avLst/>
          </a:prstGeom>
          <a:solidFill>
            <a:srgbClr val="1B9AAA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738360" y="1691640"/>
            <a:ext cx="91440" cy="91440"/>
          </a:xfrm>
          <a:prstGeom prst="ellipse">
            <a:avLst/>
          </a:prstGeom>
          <a:solidFill>
            <a:srgbClr val="1B9AAA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0" y="1691640"/>
            <a:ext cx="91440" cy="91440"/>
          </a:xfrm>
          <a:prstGeom prst="ellipse">
            <a:avLst/>
          </a:prstGeom>
          <a:solidFill>
            <a:srgbClr val="1B9AAA">
              <a:alpha val="6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PERSPECTIVE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Ericsson Patent Evolution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Next-Quarter Patent Filings from the Innovation Timeline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3611880"/>
            <a:ext cx="2011680" cy="0"/>
          </a:xfrm>
          <a:prstGeom prst="line">
            <a:avLst/>
          </a:prstGeom>
          <a:noFill/>
          <a:ln w="31750">
            <a:solidFill>
              <a:srgbClr val="F2A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9319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 </a:t>
            </a:r>
            <a:r>
              <a:rPr lang="en-US" sz="13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Innovation Timeline &amp; Patent Evolution (Kaggle)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31596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 </a:t>
            </a:r>
            <a:r>
              <a:rPr lang="en-US" sz="13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— predict target_patent_count_next_quarter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70001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 </a:t>
            </a:r>
            <a:r>
              <a:rPr lang="en-US" sz="13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Ridge · Lasso · Random Forest · XGBoost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9893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30,118 patent records  |  55 engineered features  |  9-stage pipeline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5303520" cy="868680"/>
          </a:xfrm>
          <a:prstGeom prst="roundRect">
            <a:avLst>
              <a:gd name="adj" fmla="val 736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05740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A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08760" y="2148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508760" y="24963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forecast quarterly patent output?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5303520" cy="868680"/>
          </a:xfrm>
          <a:prstGeom prst="roundRect">
            <a:avLst>
              <a:gd name="adj" fmla="val 736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310896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A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0876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Innovation Timeline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508760" y="35478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evolution across four tech eras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303520" cy="868680"/>
          </a:xfrm>
          <a:prstGeom prst="roundRect">
            <a:avLst>
              <a:gd name="adj" fmla="val 736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416052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A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76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EDA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08760" y="4599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30K+ records, 55 columns, target distribution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5303520" cy="868680"/>
          </a:xfrm>
          <a:prstGeom prst="roundRect">
            <a:avLst>
              <a:gd name="adj" fmla="val 736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521208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A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08760" y="5303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08760" y="56509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9-stage ML workflow, end to end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2057400"/>
            <a:ext cx="5303520" cy="868680"/>
          </a:xfrm>
          <a:prstGeom prst="roundRect">
            <a:avLst>
              <a:gd name="adj" fmla="val 736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205740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A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69480" y="2148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Metrics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269480" y="24963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regressors compared on RMSE / MAE / R²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9360" y="3108960"/>
            <a:ext cx="5303520" cy="868680"/>
          </a:xfrm>
          <a:prstGeom prst="roundRect">
            <a:avLst>
              <a:gd name="adj" fmla="val 736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46520" y="310896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A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26948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Leakage Story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69480" y="35478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Random Forest &amp; XGBoost hit near-zero error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9360" y="4160520"/>
            <a:ext cx="5303520" cy="868680"/>
          </a:xfrm>
          <a:prstGeom prst="roundRect">
            <a:avLst>
              <a:gd name="adj" fmla="val 736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46520" y="416052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9A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26948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Conclusion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269480" y="4599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honest model, key takeaways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Forecast Patent Filings?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6400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Ericsson's patent output reflects its R&amp;D investment focus across 5G, AI/ML, cloud-edge, IoT and security. Predicting how many patents will be filed in the upcoming quarter helps R&amp;D leadership plan resourcing, benchmark innovation velocity, and anticipate technology-era shifts before they appear in public filings.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9776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historical, quarterly, and keyword-derived patent features,</a:t>
            </a:r>
            <a:endParaRPr lang="en-US" sz="1250" dirty="0"/>
          </a:p>
          <a:p>
            <a:pPr marL="0" indent="0" algn="l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target_patent_count_next_quarter (a continuous value) — a supervised regression problem.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749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a non-trivial ML problem: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544068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Time-dependent signal hidden inside patent-level rows (lag &amp; rolling features)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feature types: temporal, text-derived, keyword flags, categorical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of leakage from quarter-level aggregates repeated across rows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60920" y="2011680"/>
            <a:ext cx="4297680" cy="4206240"/>
          </a:xfrm>
          <a:prstGeom prst="roundRect">
            <a:avLst>
              <a:gd name="adj" fmla="val 1957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63524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35240" y="257860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target_patent_count_next_quarter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3524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50976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35240" y="3566160"/>
            <a:ext cx="3749040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3657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0976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300.6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635240" y="4069080"/>
            <a:ext cx="3749040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509760" y="4160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345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35240" y="4572000"/>
            <a:ext cx="3749040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35240" y="4663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09760" y="4663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525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35240" y="5074920"/>
            <a:ext cx="3749040" cy="0"/>
          </a:xfrm>
          <a:prstGeom prst="line">
            <a:avLst/>
          </a:prstGeom>
          <a:noFill/>
          <a:ln w="9525">
            <a:solidFill>
              <a:srgbClr val="DCE3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35240" y="5166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09760" y="5166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118.6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35240" y="57150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Continuous, right-of-center distribution, no major outliers beyond natural range (1–525 patents/quarter).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TIMELINE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Patent Evolution Across Four Tech Eras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tech_era feature segments five decades of Ericsson filings into four innovation chapters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43100" y="3794760"/>
            <a:ext cx="850392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860804" y="3712464"/>
            <a:ext cx="164592" cy="164592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3774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3294B"/>
          </a:solidFill>
          <a:ln w="15875">
            <a:solidFill>
              <a:srgbClr val="3D5A8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246888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PRE-1990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74320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Foundational Telecom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315468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switching, transmission &amp; analog network patents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95444" y="3712464"/>
            <a:ext cx="164592" cy="164592"/>
          </a:xfrm>
          <a:prstGeom prst="ellipse">
            <a:avLst/>
          </a:prstGeom>
          <a:solidFill>
            <a:srgbClr val="1B9AA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23774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3294B"/>
          </a:solidFill>
          <a:ln w="15875">
            <a:solidFill>
              <a:srgbClr val="1B9AAA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39312" y="246888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39312" y="274320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Infrastructure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39312" y="315468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2G/3G rollout, base-station &amp; antenna innovation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530084" y="3712464"/>
            <a:ext cx="164592" cy="164592"/>
          </a:xfrm>
          <a:prstGeom prst="ellipse">
            <a:avLst/>
          </a:prstGeom>
          <a:solidFill>
            <a:srgbClr val="3EB6A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23774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3294B"/>
          </a:solidFill>
          <a:ln w="15875">
            <a:solidFill>
              <a:srgbClr val="3EB6A8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73952" y="246888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3E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73952" y="274320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Connected Devices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3952" y="315468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4G/LTE, data, cloud-edge &amp; device-software patents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E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364724" y="3712464"/>
            <a:ext cx="164592" cy="164592"/>
          </a:xfrm>
          <a:prstGeom prst="ellipse">
            <a:avLst/>
          </a:prstGeom>
          <a:solidFill>
            <a:srgbClr val="F2A9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0" y="237744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13294B"/>
          </a:solidFill>
          <a:ln w="15875">
            <a:solidFill>
              <a:srgbClr val="F2A93B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08592" y="246888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308592" y="274320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5G Era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308592" y="315468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5G, AI/ML, IoT, security &amp; energy-efficiency patents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44000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signals tracked per era: kw_5g · kw_ai_ml · kw_cloud_edge · kw_security · kw_iot · kw_network · kw_energy · kw_antenna · kw_data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13294B"/>
          </a:solidFill>
          <a:ln/>
        </p:spPr>
      </p:sp>
      <p:sp>
        <p:nvSpPr>
          <p:cNvPr id="32" name="Text 30"/>
          <p:cNvSpPr/>
          <p:nvPr/>
        </p:nvSpPr>
        <p:spPr>
          <a:xfrm>
            <a:off x="868680" y="53492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Angle: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331720" y="534924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tech_era and keyword flags are one-hot / binary encoded so the model can learn era-specific filing velocity — e.g. AI/ML and 5G keyword density rising sharply in the Modern (2020s) era drives higher predicted patent counts.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Details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057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30,118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patent records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196596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1B9AA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2057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91840" y="2606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columns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35040" y="196596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2057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035040" y="2606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features (post-encoding)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778240" y="1965960"/>
            <a:ext cx="2514600" cy="1188720"/>
          </a:xfrm>
          <a:prstGeom prst="roundRect">
            <a:avLst>
              <a:gd name="adj" fmla="val 6154"/>
            </a:avLst>
          </a:prstGeom>
          <a:solidFill>
            <a:srgbClr val="1B9AA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78240" y="2057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778240" y="2606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target rows (408)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Kaggle — adamvakar/ericsson-innovation-timeline-patent-evolution</a:t>
            </a:r>
            <a:endParaRPr lang="en-US" sz="10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0881360" cy="26974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Columns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Identifiers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patent_id, patent_type, patent_date, patent_title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record metadata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year, quarter, month, day_of_week, day_of_year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positioning of each filing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Text-derived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title_len_chars, title_len_words, title_has_number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NLP-style signals from patent titles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flags &amp; counts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kw_ai_ml, kw_5g, kw_iot, keyword_score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Technology-topic indicators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patent_count, utility_share, design_share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Quarter-level summary stats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/ rolling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patent_count_lag1/2/4, roll4_mean, roll8_mean, qoq, yoy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trend capture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tech_era, patent_type (one-hot encoded)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Era &amp; filing-type context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9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target_patent_count_next_quarter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7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to predict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Highlights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1945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Checks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26517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Shape:  </a:t>
            </a:r>
            <a:r>
              <a:rPr lang="en-US" sz="108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30,118 rows × 55 columns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822960" y="33284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3328416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values:  </a:t>
            </a:r>
            <a:r>
              <a:rPr lang="en-US" sz="108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target column — 408 rows (1.35%), confined to the most recent quarter (no future label yet)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822960" y="4005072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400507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rows:  </a:t>
            </a:r>
            <a:r>
              <a:rPr lang="en-US" sz="108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— none found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822960" y="468172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468172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columns:  </a:t>
            </a:r>
            <a:r>
              <a:rPr lang="en-US" sz="108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patent_id, patent_type, patent_date, patent_title, quarter_end, tech_era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822960" y="535838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5358384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distribution:  </a:t>
            </a:r>
            <a:r>
              <a:rPr lang="en-US" sz="108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Right-leaning, continuous, range 1–525, mean ≈ 300.6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897880" y="2011680"/>
            <a:ext cx="5760720" cy="4114800"/>
          </a:xfrm>
          <a:prstGeom prst="roundRect">
            <a:avLst>
              <a:gd name="adj" fmla="val 1778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2194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Correlations with Target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26480" y="2578608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heatmap (top 15 numeric features) shows the strongest linear relationships: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26480" y="31089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patent_count_roll4_mean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3154680"/>
            <a:ext cx="2377440" cy="201168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21" name="Shape 19"/>
          <p:cNvSpPr/>
          <p:nvPr/>
        </p:nvSpPr>
        <p:spPr>
          <a:xfrm>
            <a:off x="9052560" y="3154680"/>
            <a:ext cx="2234794" cy="20116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22" name="Text 20"/>
          <p:cNvSpPr/>
          <p:nvPr/>
        </p:nvSpPr>
        <p:spPr>
          <a:xfrm>
            <a:off x="11333074" y="309067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126480" y="35204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patent_count_lag1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052560" y="3566160"/>
            <a:ext cx="2377440" cy="201168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25" name="Shape 23"/>
          <p:cNvSpPr/>
          <p:nvPr/>
        </p:nvSpPr>
        <p:spPr>
          <a:xfrm>
            <a:off x="9052560" y="3566160"/>
            <a:ext cx="2163470" cy="20116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26" name="Text 24"/>
          <p:cNvSpPr/>
          <p:nvPr/>
        </p:nvSpPr>
        <p:spPr>
          <a:xfrm>
            <a:off x="11261750" y="3502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26480" y="39319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patent_count_roll8_mean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052560" y="3977640"/>
            <a:ext cx="2377440" cy="201168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29" name="Shape 27"/>
          <p:cNvSpPr/>
          <p:nvPr/>
        </p:nvSpPr>
        <p:spPr>
          <a:xfrm>
            <a:off x="9052560" y="3977640"/>
            <a:ext cx="2115922" cy="20116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30" name="Text 28"/>
          <p:cNvSpPr/>
          <p:nvPr/>
        </p:nvSpPr>
        <p:spPr>
          <a:xfrm>
            <a:off x="11214202" y="391363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0" y="43434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patent_count_lag2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052560" y="4389120"/>
            <a:ext cx="2377440" cy="201168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33" name="Shape 31"/>
          <p:cNvSpPr/>
          <p:nvPr/>
        </p:nvSpPr>
        <p:spPr>
          <a:xfrm>
            <a:off x="9052560" y="4389120"/>
            <a:ext cx="2044598" cy="20116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34" name="Text 32"/>
          <p:cNvSpPr/>
          <p:nvPr/>
        </p:nvSpPr>
        <p:spPr>
          <a:xfrm>
            <a:off x="11142878" y="432511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26480" y="47548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patent_count_lag4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052560" y="4800600"/>
            <a:ext cx="2377440" cy="201168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37" name="Shape 35"/>
          <p:cNvSpPr/>
          <p:nvPr/>
        </p:nvSpPr>
        <p:spPr>
          <a:xfrm>
            <a:off x="9052560" y="4800600"/>
            <a:ext cx="1854403" cy="20116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38" name="Text 36"/>
          <p:cNvSpPr/>
          <p:nvPr/>
        </p:nvSpPr>
        <p:spPr>
          <a:xfrm>
            <a:off x="10952683" y="47365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26480" y="51663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keyword_score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52560" y="5212080"/>
            <a:ext cx="2377440" cy="201168"/>
          </a:xfrm>
          <a:prstGeom prst="rect">
            <a:avLst/>
          </a:prstGeom>
          <a:solidFill>
            <a:srgbClr val="13294B"/>
          </a:solidFill>
          <a:ln/>
        </p:spPr>
      </p:sp>
      <p:sp>
        <p:nvSpPr>
          <p:cNvPr id="41" name="Shape 39"/>
          <p:cNvSpPr/>
          <p:nvPr/>
        </p:nvSpPr>
        <p:spPr>
          <a:xfrm>
            <a:off x="9052560" y="5212080"/>
            <a:ext cx="998525" cy="201168"/>
          </a:xfrm>
          <a:prstGeom prst="rect">
            <a:avLst/>
          </a:prstGeom>
          <a:solidFill>
            <a:srgbClr val="1B9AAA"/>
          </a:solidFill>
          <a:ln/>
        </p:spPr>
      </p:sp>
      <p:sp>
        <p:nvSpPr>
          <p:cNvPr id="42" name="Text 40"/>
          <p:cNvSpPr/>
          <p:nvPr/>
        </p:nvSpPr>
        <p:spPr>
          <a:xfrm>
            <a:off x="10096805" y="514807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26480" y="5532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&amp; rolling-average features dominate the correlation table — a strong early signal that the target is itself derived from historical patent_count aggregates.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Pipeline — Architecture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2638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5790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5790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5790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30,118 × 55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load (df_raw)</a:t>
            </a:r>
            <a:endParaRPr lang="en-US" sz="760" dirty="0"/>
          </a:p>
        </p:txBody>
      </p:sp>
      <p:sp>
        <p:nvSpPr>
          <p:cNvPr id="8" name="Text 6"/>
          <p:cNvSpPr/>
          <p:nvPr/>
        </p:nvSpPr>
        <p:spPr>
          <a:xfrm>
            <a:off x="1831086" y="2793492"/>
            <a:ext cx="1234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36242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1B9AA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09394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09394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09394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nulls,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dupes, correlations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3234690" y="2793492"/>
            <a:ext cx="1234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39846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12998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12998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12998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dtypes, drop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408 null-target rows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4638294" y="2793492"/>
            <a:ext cx="1234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743450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1B9AA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16602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16602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Encoding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16602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encode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patent_type, tech_era</a:t>
            </a:r>
            <a:endParaRPr lang="en-US" sz="760" dirty="0"/>
          </a:p>
        </p:txBody>
      </p:sp>
      <p:sp>
        <p:nvSpPr>
          <p:cNvPr id="23" name="Text 21"/>
          <p:cNvSpPr/>
          <p:nvPr/>
        </p:nvSpPr>
        <p:spPr>
          <a:xfrm>
            <a:off x="6041898" y="2793492"/>
            <a:ext cx="1234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47054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20206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20206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(80/20)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20206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random_state=42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fit on train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7445502" y="2793492"/>
            <a:ext cx="1234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50658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1B9AA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23810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623810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23810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regressors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X_train_scaled</a:t>
            </a:r>
            <a:endParaRPr lang="en-US" sz="760" dirty="0"/>
          </a:p>
        </p:txBody>
      </p:sp>
      <p:sp>
        <p:nvSpPr>
          <p:cNvPr id="33" name="Text 31"/>
          <p:cNvSpPr/>
          <p:nvPr/>
        </p:nvSpPr>
        <p:spPr>
          <a:xfrm>
            <a:off x="8849106" y="2793492"/>
            <a:ext cx="1234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954262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027414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027414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27414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· MAE · R²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held-out test set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10252710" y="2793492"/>
            <a:ext cx="1234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357866" y="2286000"/>
            <a:ext cx="1298448" cy="1417320"/>
          </a:xfrm>
          <a:prstGeom prst="roundRect">
            <a:avLst>
              <a:gd name="adj" fmla="val 4930"/>
            </a:avLst>
          </a:prstGeom>
          <a:solidFill>
            <a:srgbClr val="1B9AAA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0431018" y="234086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431018" y="2651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&amp;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431018" y="3182112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+ error</a:t>
            </a:r>
            <a:endParaRPr lang="en-US" sz="7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6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+ export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532638" y="4206240"/>
            <a:ext cx="11123676" cy="1417320"/>
          </a:xfrm>
          <a:prstGeom prst="roundRect">
            <a:avLst>
              <a:gd name="adj" fmla="val 5161"/>
            </a:avLst>
          </a:prstGeom>
          <a:solidFill>
            <a:srgbClr val="F4F6F9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6958" y="4343400"/>
            <a:ext cx="105750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Five Models Trained in Parallel on the Same Scaled Features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1293876" y="470916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3970">
            <a:solidFill>
              <a:srgbClr val="0B1F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293876" y="4709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259836" y="470916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3970">
            <a:solidFill>
              <a:srgbClr val="0B1F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9836" y="4709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(L2)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225796" y="470916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3970">
            <a:solidFill>
              <a:srgbClr val="0B1F3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25796" y="4709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(L1)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7191756" y="470916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3970">
            <a:solidFill>
              <a:srgbClr val="0B1F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91756" y="4709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0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157716" y="470916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3970">
            <a:solidFill>
              <a:srgbClr val="0B1F3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57716" y="47091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Regression Models, One Benchmark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084832" cy="3200400"/>
          </a:xfrm>
          <a:prstGeom prst="roundRect">
            <a:avLst>
              <a:gd name="adj" fmla="val 3509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35024" y="2286000"/>
            <a:ext cx="512064" cy="51206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/>
          <p:nvPr/>
        </p:nvSpPr>
        <p:spPr>
          <a:xfrm>
            <a:off x="1335024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3566160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7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a straight hyperplane through scaled features.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85800" y="4800600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480060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2834640" y="2057400"/>
            <a:ext cx="2084832" cy="3200400"/>
          </a:xfrm>
          <a:prstGeom prst="roundRect">
            <a:avLst>
              <a:gd name="adj" fmla="val 3509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286000"/>
            <a:ext cx="512064" cy="51206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/>
          <p:nvPr/>
        </p:nvSpPr>
        <p:spPr>
          <a:xfrm>
            <a:off x="3621024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71800" y="29718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9232" y="3566160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7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+ L2 penalty; tames multicollinearity among lag features.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2971800" y="4800600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/>
          <p:nvPr/>
        </p:nvSpPr>
        <p:spPr>
          <a:xfrm>
            <a:off x="2971800" y="480060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 baseline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5120640" y="2057400"/>
            <a:ext cx="2084832" cy="3200400"/>
          </a:xfrm>
          <a:prstGeom prst="roundRect">
            <a:avLst>
              <a:gd name="adj" fmla="val 3509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07024" y="2286000"/>
            <a:ext cx="512064" cy="51206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0" name="Text 18"/>
          <p:cNvSpPr/>
          <p:nvPr/>
        </p:nvSpPr>
        <p:spPr>
          <a:xfrm>
            <a:off x="5907024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57800" y="29718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285232" y="3566160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7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penalty can shrink weak feature coefficients to exactly zero.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5257800" y="4800600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/>
          <p:nvPr/>
        </p:nvSpPr>
        <p:spPr>
          <a:xfrm>
            <a:off x="5257800" y="480060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feature selection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7406640" y="2057400"/>
            <a:ext cx="2084832" cy="3200400"/>
          </a:xfrm>
          <a:prstGeom prst="roundRect">
            <a:avLst>
              <a:gd name="adj" fmla="val 3509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93024" y="2286000"/>
            <a:ext cx="512064" cy="512064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7" name="Text 25"/>
          <p:cNvSpPr/>
          <p:nvPr/>
        </p:nvSpPr>
        <p:spPr>
          <a:xfrm>
            <a:off x="8193024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543800" y="29718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571232" y="3566160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7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trees; captures non-linear, interaction effects.</a:t>
            </a:r>
            <a:endParaRPr lang="en-US" sz="970" dirty="0"/>
          </a:p>
        </p:txBody>
      </p:sp>
      <p:sp>
        <p:nvSpPr>
          <p:cNvPr id="30" name="Shape 28"/>
          <p:cNvSpPr/>
          <p:nvPr/>
        </p:nvSpPr>
        <p:spPr>
          <a:xfrm>
            <a:off x="7543800" y="4800600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B9AAA"/>
          </a:solidFill>
          <a:ln/>
        </p:spPr>
      </p:sp>
      <p:sp>
        <p:nvSpPr>
          <p:cNvPr id="31" name="Text 29"/>
          <p:cNvSpPr/>
          <p:nvPr/>
        </p:nvSpPr>
        <p:spPr>
          <a:xfrm>
            <a:off x="7543800" y="480060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ensemble</a:t>
            </a:r>
            <a:endParaRPr lang="en-US" sz="870" dirty="0"/>
          </a:p>
        </p:txBody>
      </p:sp>
      <p:sp>
        <p:nvSpPr>
          <p:cNvPr id="32" name="Shape 30"/>
          <p:cNvSpPr/>
          <p:nvPr/>
        </p:nvSpPr>
        <p:spPr>
          <a:xfrm>
            <a:off x="9692640" y="2057400"/>
            <a:ext cx="2084832" cy="3200400"/>
          </a:xfrm>
          <a:prstGeom prst="roundRect">
            <a:avLst>
              <a:gd name="adj" fmla="val 3509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479024" y="2286000"/>
            <a:ext cx="512064" cy="512064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34" name="Text 32"/>
          <p:cNvSpPr/>
          <p:nvPr/>
        </p:nvSpPr>
        <p:spPr>
          <a:xfrm>
            <a:off x="10479024" y="2286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829800" y="29718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857232" y="3566160"/>
            <a:ext cx="17556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7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trees; iteratively corrects residual errors.</a:t>
            </a:r>
            <a:endParaRPr lang="en-US" sz="970" dirty="0"/>
          </a:p>
        </p:txBody>
      </p:sp>
      <p:sp>
        <p:nvSpPr>
          <p:cNvPr id="37" name="Shape 35"/>
          <p:cNvSpPr/>
          <p:nvPr/>
        </p:nvSpPr>
        <p:spPr>
          <a:xfrm>
            <a:off x="9829800" y="4800600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B9AAA"/>
          </a:solidFill>
          <a:ln/>
        </p:spPr>
      </p:sp>
      <p:sp>
        <p:nvSpPr>
          <p:cNvPr id="38" name="Text 36"/>
          <p:cNvSpPr/>
          <p:nvPr/>
        </p:nvSpPr>
        <p:spPr>
          <a:xfrm>
            <a:off x="9829800" y="480060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Boosted ensemble</a:t>
            </a:r>
            <a:endParaRPr lang="en-US" sz="870" dirty="0"/>
          </a:p>
        </p:txBody>
      </p:sp>
      <p:sp>
        <p:nvSpPr>
          <p:cNvPr id="39" name="Text 37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trained on identical X_train_scaled (StandardScaler, fit on training data only) and evaluated on the same held-out test set for a fair comparison.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Results — RMSE · MAE · R²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486400" cy="26517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39.8322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(L2)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39.8325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30.7432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 (L1)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39.8504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30.6769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09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rows = suspiciously perfect scores (see next slide — data leakage).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Linear-family models (Linear / Ridge / Lasso) sit within 0.0002 of each other — regularisation has almost no effect, meaning multicollinearity is mild once lag/rolling features are included.</a:t>
            </a:r>
            <a:endParaRPr lang="en-US" sz="1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355080" y="1920240"/>
          <a:ext cx="530352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hart 1"/>
          <p:cNvGraphicFramePr/>
          <p:nvPr/>
        </p:nvGraphicFramePr>
        <p:xfrm>
          <a:off x="6355080" y="4434840"/>
          <a:ext cx="530352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4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Random Forest Hit R² ≈ 1.0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0.0241 and MAE = 0.0012 are not a modeling win — they are a leakage signature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Quarter-level target, row-level rows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34440" y="229514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target_patent_count_next_quarter and the lag/rolling features (lag1, lag2, lag4, roll4_mean, roll8_mean, qoq, yoy) are aggregated at the (year, quarter) level — but every individual patent row within that quarter repeats the exact same value.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316382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row-wise split, not time-based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234440" y="352958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train_test_split() with random_state=42 shuffles rows freely. Because many patents share the same quarter, the identical (year, quarter) combination — and therefore the identical target value — appears in BOTH the training and test sets.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439826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memorise, linear models can't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234440" y="476402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7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XGBoost split on lag &amp; rolling features and can carve out a leaf for each exact (year, quarter) combination seen in training — effectively memorising the answer. Linear models can only fit a smooth global trend, so they stay at a realistic R² ≈ 0.885.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5852160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13294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8521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treat the linear-family R² ≈ 0.885 as the trustworthy benchmark; the tree-ensemble scores require a time-aware (GroupKFold by quarter, or chronological) split before they can be believed.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GRAPHS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vs Predicted — Best Model (Random Forest)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2011680"/>
          <a:ext cx="60350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2011680"/>
            <a:ext cx="4800600" cy="4114800"/>
          </a:xfrm>
          <a:prstGeom prst="roundRect">
            <a:avLst>
              <a:gd name="adj" fmla="val 177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86600" y="21945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plot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086600" y="2606040"/>
            <a:ext cx="43434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7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= one test-set patent row: x = actual next-quarter count, y = model prediction.</a:t>
            </a:r>
            <a:endParaRPr lang="en-US" sz="107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7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dashed line = perfect prediction (y = x).</a:t>
            </a:r>
            <a:endParaRPr lang="en-US" sz="107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7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Random Forest, every point lands essentially ON the diagonal — visual confirmation of the R² ≈ 1.0 / RMSE ≈ 0.02 result.</a:t>
            </a:r>
            <a:endParaRPr lang="en-US" sz="107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7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tight fit is the leakage symptom described earlier, not genuine forecasting skill.</a:t>
            </a:r>
            <a:endParaRPr lang="en-US" sz="107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GRAPHS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Distribution &amp; Feature Importance (Linear Regression)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2011680"/>
          <a:ext cx="53949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28523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error: 1.22  (≈0 → unbiased)      Std of error: 39.81</a:t>
            </a:r>
            <a:endParaRPr lang="en-US" sz="10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6263640" y="2011680"/>
          <a:ext cx="539496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715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graphs point the same direction: historical patent volume (lag &amp; rolling-average features) is the dominant driver of next-quarter predictions, far ahead of keyword or calendar signals.</a:t>
            </a:r>
            <a:endParaRPr lang="en-US" sz="98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GRAPHS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Predictions — Linear Regression (Test Rows)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6400800" cy="40233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39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221.15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221.10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291.84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363.13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364.06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78040" y="2011680"/>
            <a:ext cx="4480560" cy="4023360"/>
          </a:xfrm>
          <a:prstGeom prst="roundRect">
            <a:avLst>
              <a:gd name="adj" fmla="val 1818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06640" y="21945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residuals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06640" y="2606040"/>
            <a:ext cx="40233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rows: error within ±20 patents on a target ranging 1–525 — a realistic, usable forecast band.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6 is the outlier: actual 207 vs predicted 118.8 (error 88.2) — likely a quarter where keyword/era signals diverged from the recent trend.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honest spread (mean error ≈1.2, std ≈39.8) is what a deployable model looks like — unlike the suspiciously flawless tree-ensemble output.</a:t>
            </a:r>
            <a:endParaRPr lang="en-US" sz="103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 —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11680"/>
            <a:ext cx="3611880" cy="59436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/ Ridge / Lasso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≈ 0.885 — explains 88.5% of variance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≈ 39.8, MAE ≈ 30.7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performance — no leakage exposure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coefficients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reporting &amp; forecasting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43400" y="2011680"/>
            <a:ext cx="3611880" cy="59436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20116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78892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1.0000, RMSE = 0.0241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error driven by quarter-level leakage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Memorises (year, quarter) via tree splits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trustworthy as-is for deployment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time-aware re-validation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8138160" y="201168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38160" y="2011680"/>
            <a:ext cx="3611880" cy="59436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20116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278892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1.0000, RMSE = 0.5918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leakage exposure as Random Forest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higher error than RF — less perfect overfit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unsafe to deploy without re-split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30" dirty="0">
                <a:solidFill>
                  <a:srgbClr val="16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candidate once leakage is fixed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47088"/>
            <a:ext cx="365760" cy="36576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3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9-stage pipeline cleaned 30,118 Ericsson patent records into 23 model-ready features spanning four innovation eras.</a:t>
            </a:r>
            <a:endParaRPr lang="en-US" sz="1230" dirty="0"/>
          </a:p>
        </p:txBody>
      </p:sp>
      <p:sp>
        <p:nvSpPr>
          <p:cNvPr id="7" name="Shape 5"/>
          <p:cNvSpPr/>
          <p:nvPr/>
        </p:nvSpPr>
        <p:spPr>
          <a:xfrm>
            <a:off x="548640" y="2688336"/>
            <a:ext cx="365760" cy="36576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67004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3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Linear-family models (Linear, Ridge, Lasso) deliver a trustworthy R² ≈ 0.885 — the model explains ~88.5% of next-quarter patent-count variance using temporal, keyword, and lag/rolling signals.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548640" y="3529584"/>
            <a:ext cx="365760" cy="36576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3511296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3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and XGBoost's near-perfect scores (R² ≈ 1.0) are a data-leakage artifact from row-wise (not time-aware) splitting of quarter-level aggregates — a critical lesson, not a finished result.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365760" cy="36576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4352544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3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and rolling-average features (patent_count_lag1, roll4_mean, roll8_mean) are the strongest predictors — recent filing momentum drives near-term forecasts more than any single keyword.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365760" cy="36576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5193792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3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re-split chronologically (or GroupKFold by year-quarter) and re-evaluate tree ensembles to get an honest, deployable forecasting model for Ericsson's R&amp;D planning.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· ML Pipeline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749808" y="3520440"/>
            <a:ext cx="2011680" cy="0"/>
          </a:xfrm>
          <a:prstGeom prst="line">
            <a:avLst/>
          </a:prstGeom>
          <a:noFill/>
          <a:ln w="31750">
            <a:solidFill>
              <a:srgbClr val="F2A9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749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Ericsson Patent Evolution — Machine Learning Forecasting Pipeline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2473</Words>
  <Application>Microsoft Office PowerPoint</Application>
  <PresentationFormat>Widescreen</PresentationFormat>
  <Paragraphs>455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Ericsson Patent Evolution — ML Forecasting Pipeline</dc:title>
  <dc:subject>PptxGenJS Presentation</dc:subject>
  <dc:creator>ML Pipeline Team</dc:creator>
  <cp:lastModifiedBy>sai kiran</cp:lastModifiedBy>
  <cp:revision>14</cp:revision>
  <dcterms:created xsi:type="dcterms:W3CDTF">2026-06-21T15:38:18Z</dcterms:created>
  <dcterms:modified xsi:type="dcterms:W3CDTF">2026-06-22T09:27:51Z</dcterms:modified>
</cp:coreProperties>
</file>