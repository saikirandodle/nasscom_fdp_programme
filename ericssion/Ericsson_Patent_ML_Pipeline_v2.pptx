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6213A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XGBoost</c:v>
                </c:pt>
                <c:pt idx="2">
                  <c:v>Linear
Reg.</c:v>
                </c:pt>
                <c:pt idx="3">
                  <c:v>Ridge
(L2)</c:v>
                </c:pt>
                <c:pt idx="4">
                  <c:v>Lasso
(L1)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0.8851</c:v>
                </c:pt>
                <c:pt idx="3">
                  <c:v>0.8851</c:v>
                </c:pt>
                <c:pt idx="4">
                  <c:v>0.88500000000000001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B-4379-953E-BE4F365CB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6213A"/>
                </a:solidFill>
                <a:latin typeface="Arial"/>
              </a:rPr>
              <a:t>RMSE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XGBoost</c:v>
                </c:pt>
                <c:pt idx="2">
                  <c:v>Linear
Reg.</c:v>
                </c:pt>
                <c:pt idx="3">
                  <c:v>Ridge
(L2)</c:v>
                </c:pt>
                <c:pt idx="4">
                  <c:v>Lasso
(L1)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2.41E-2</c:v>
                </c:pt>
                <c:pt idx="1">
                  <c:v>0.59179999999999999</c:v>
                </c:pt>
                <c:pt idx="2">
                  <c:v>39.8322</c:v>
                </c:pt>
                <c:pt idx="3">
                  <c:v>39.832500000000003</c:v>
                </c:pt>
                <c:pt idx="4">
                  <c:v>39.8504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8E-48A5-9F37-69244AEF9F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600" b="0" i="0" u="none" strike="noStrike">
                <a:solidFill>
                  <a:srgbClr val="16213A"/>
                </a:solidFill>
                <a:latin typeface="Arial"/>
              </a:rPr>
              <a:t>Actual vs Predicted (Random Forest, test set)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ln w="25400" cap="flat">
              <a:solidFill>
                <a:srgbClr val="1B9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9AAA"/>
              </a:solidFill>
              <a:ln w="9525" cap="flat">
                <a:solidFill>
                  <a:srgbClr val="1B9AAA"/>
                </a:solidFill>
                <a:prstDash val="solid"/>
                <a:round/>
              </a:ln>
              <a:effectLst/>
            </c:spPr>
          </c:marker>
          <c:cat>
            <c:strRef>
              <c:f>Sheet1!$A$2:$A$41</c:f>
              <c:strCache>
                <c:ptCount val="40"/>
                <c:pt idx="0">
                  <c:v>26</c:v>
                </c:pt>
                <c:pt idx="1">
                  <c:v>42</c:v>
                </c:pt>
                <c:pt idx="2">
                  <c:v>43</c:v>
                </c:pt>
                <c:pt idx="3">
                  <c:v>62</c:v>
                </c:pt>
                <c:pt idx="4">
                  <c:v>64</c:v>
                </c:pt>
                <c:pt idx="5">
                  <c:v>72</c:v>
                </c:pt>
                <c:pt idx="6">
                  <c:v>81</c:v>
                </c:pt>
                <c:pt idx="7">
                  <c:v>90</c:v>
                </c:pt>
                <c:pt idx="8">
                  <c:v>93</c:v>
                </c:pt>
                <c:pt idx="9">
                  <c:v>126</c:v>
                </c:pt>
                <c:pt idx="10">
                  <c:v>139</c:v>
                </c:pt>
                <c:pt idx="11">
                  <c:v>143</c:v>
                </c:pt>
                <c:pt idx="12">
                  <c:v>150</c:v>
                </c:pt>
                <c:pt idx="13">
                  <c:v>185</c:v>
                </c:pt>
                <c:pt idx="14">
                  <c:v>221</c:v>
                </c:pt>
                <c:pt idx="15">
                  <c:v>231</c:v>
                </c:pt>
                <c:pt idx="16">
                  <c:v>231</c:v>
                </c:pt>
                <c:pt idx="17">
                  <c:v>233</c:v>
                </c:pt>
                <c:pt idx="18">
                  <c:v>235</c:v>
                </c:pt>
                <c:pt idx="19">
                  <c:v>237</c:v>
                </c:pt>
                <c:pt idx="20">
                  <c:v>237</c:v>
                </c:pt>
                <c:pt idx="21">
                  <c:v>248</c:v>
                </c:pt>
                <c:pt idx="22">
                  <c:v>258</c:v>
                </c:pt>
                <c:pt idx="23">
                  <c:v>262</c:v>
                </c:pt>
                <c:pt idx="24">
                  <c:v>288</c:v>
                </c:pt>
                <c:pt idx="25">
                  <c:v>295</c:v>
                </c:pt>
                <c:pt idx="26">
                  <c:v>310</c:v>
                </c:pt>
                <c:pt idx="27">
                  <c:v>317</c:v>
                </c:pt>
                <c:pt idx="28">
                  <c:v>345</c:v>
                </c:pt>
                <c:pt idx="29">
                  <c:v>353</c:v>
                </c:pt>
                <c:pt idx="30">
                  <c:v>353</c:v>
                </c:pt>
                <c:pt idx="31">
                  <c:v>358</c:v>
                </c:pt>
                <c:pt idx="32">
                  <c:v>390</c:v>
                </c:pt>
                <c:pt idx="33">
                  <c:v>393</c:v>
                </c:pt>
                <c:pt idx="34">
                  <c:v>399</c:v>
                </c:pt>
                <c:pt idx="35">
                  <c:v>451</c:v>
                </c:pt>
                <c:pt idx="36">
                  <c:v>487</c:v>
                </c:pt>
                <c:pt idx="37">
                  <c:v>493</c:v>
                </c:pt>
                <c:pt idx="38">
                  <c:v>502</c:v>
                </c:pt>
                <c:pt idx="39">
                  <c:v>502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26</c:v>
                </c:pt>
                <c:pt idx="1">
                  <c:v>42.2</c:v>
                </c:pt>
                <c:pt idx="2">
                  <c:v>42.8</c:v>
                </c:pt>
                <c:pt idx="3">
                  <c:v>61.5</c:v>
                </c:pt>
                <c:pt idx="4">
                  <c:v>64.3</c:v>
                </c:pt>
                <c:pt idx="5">
                  <c:v>72.3</c:v>
                </c:pt>
                <c:pt idx="6">
                  <c:v>81.5</c:v>
                </c:pt>
                <c:pt idx="7">
                  <c:v>90.3</c:v>
                </c:pt>
                <c:pt idx="8">
                  <c:v>93.3</c:v>
                </c:pt>
                <c:pt idx="9">
                  <c:v>126.1</c:v>
                </c:pt>
                <c:pt idx="10">
                  <c:v>139.4</c:v>
                </c:pt>
                <c:pt idx="11">
                  <c:v>142.69999999999999</c:v>
                </c:pt>
                <c:pt idx="12">
                  <c:v>150.1</c:v>
                </c:pt>
                <c:pt idx="13">
                  <c:v>185.3</c:v>
                </c:pt>
                <c:pt idx="14">
                  <c:v>220.7</c:v>
                </c:pt>
                <c:pt idx="15">
                  <c:v>230.6</c:v>
                </c:pt>
                <c:pt idx="16">
                  <c:v>231</c:v>
                </c:pt>
                <c:pt idx="17">
                  <c:v>233.2</c:v>
                </c:pt>
                <c:pt idx="18">
                  <c:v>234.5</c:v>
                </c:pt>
                <c:pt idx="19">
                  <c:v>237</c:v>
                </c:pt>
                <c:pt idx="20">
                  <c:v>237.2</c:v>
                </c:pt>
                <c:pt idx="21">
                  <c:v>247.6</c:v>
                </c:pt>
                <c:pt idx="22">
                  <c:v>258</c:v>
                </c:pt>
                <c:pt idx="23">
                  <c:v>262.2</c:v>
                </c:pt>
                <c:pt idx="24">
                  <c:v>287.60000000000002</c:v>
                </c:pt>
                <c:pt idx="25">
                  <c:v>294.60000000000002</c:v>
                </c:pt>
                <c:pt idx="26">
                  <c:v>309.89999999999998</c:v>
                </c:pt>
                <c:pt idx="27">
                  <c:v>316.89999999999998</c:v>
                </c:pt>
                <c:pt idx="28">
                  <c:v>345.5</c:v>
                </c:pt>
                <c:pt idx="29">
                  <c:v>353</c:v>
                </c:pt>
                <c:pt idx="30">
                  <c:v>353.1</c:v>
                </c:pt>
                <c:pt idx="31">
                  <c:v>357.8</c:v>
                </c:pt>
                <c:pt idx="32">
                  <c:v>390.3</c:v>
                </c:pt>
                <c:pt idx="33">
                  <c:v>392.6</c:v>
                </c:pt>
                <c:pt idx="34">
                  <c:v>398.7</c:v>
                </c:pt>
                <c:pt idx="35">
                  <c:v>450.8</c:v>
                </c:pt>
                <c:pt idx="36">
                  <c:v>486.7</c:v>
                </c:pt>
                <c:pt idx="37">
                  <c:v>493.1</c:v>
                </c:pt>
                <c:pt idx="38">
                  <c:v>501.5</c:v>
                </c:pt>
                <c:pt idx="39">
                  <c:v>501.8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7-46C0-ACBC-74F99DD323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 Prediction (y = x)</c:v>
                </c:pt>
              </c:strCache>
            </c:strRef>
          </c:tx>
          <c:spPr>
            <a:ln w="25400" cap="flat">
              <a:solidFill>
                <a:srgbClr val="C044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443B"/>
              </a:solidFill>
              <a:ln w="9525" cap="flat">
                <a:solidFill>
                  <a:srgbClr val="C0443B"/>
                </a:solidFill>
                <a:prstDash val="solid"/>
                <a:round/>
              </a:ln>
              <a:effectLst/>
            </c:spPr>
          </c:marker>
          <c:cat>
            <c:strRef>
              <c:f>Sheet1!$A$2:$A$41</c:f>
              <c:strCache>
                <c:ptCount val="40"/>
                <c:pt idx="0">
                  <c:v>26</c:v>
                </c:pt>
                <c:pt idx="1">
                  <c:v>42</c:v>
                </c:pt>
                <c:pt idx="2">
                  <c:v>43</c:v>
                </c:pt>
                <c:pt idx="3">
                  <c:v>62</c:v>
                </c:pt>
                <c:pt idx="4">
                  <c:v>64</c:v>
                </c:pt>
                <c:pt idx="5">
                  <c:v>72</c:v>
                </c:pt>
                <c:pt idx="6">
                  <c:v>81</c:v>
                </c:pt>
                <c:pt idx="7">
                  <c:v>90</c:v>
                </c:pt>
                <c:pt idx="8">
                  <c:v>93</c:v>
                </c:pt>
                <c:pt idx="9">
                  <c:v>126</c:v>
                </c:pt>
                <c:pt idx="10">
                  <c:v>139</c:v>
                </c:pt>
                <c:pt idx="11">
                  <c:v>143</c:v>
                </c:pt>
                <c:pt idx="12">
                  <c:v>150</c:v>
                </c:pt>
                <c:pt idx="13">
                  <c:v>185</c:v>
                </c:pt>
                <c:pt idx="14">
                  <c:v>221</c:v>
                </c:pt>
                <c:pt idx="15">
                  <c:v>231</c:v>
                </c:pt>
                <c:pt idx="16">
                  <c:v>231</c:v>
                </c:pt>
                <c:pt idx="17">
                  <c:v>233</c:v>
                </c:pt>
                <c:pt idx="18">
                  <c:v>235</c:v>
                </c:pt>
                <c:pt idx="19">
                  <c:v>237</c:v>
                </c:pt>
                <c:pt idx="20">
                  <c:v>237</c:v>
                </c:pt>
                <c:pt idx="21">
                  <c:v>248</c:v>
                </c:pt>
                <c:pt idx="22">
                  <c:v>258</c:v>
                </c:pt>
                <c:pt idx="23">
                  <c:v>262</c:v>
                </c:pt>
                <c:pt idx="24">
                  <c:v>288</c:v>
                </c:pt>
                <c:pt idx="25">
                  <c:v>295</c:v>
                </c:pt>
                <c:pt idx="26">
                  <c:v>310</c:v>
                </c:pt>
                <c:pt idx="27">
                  <c:v>317</c:v>
                </c:pt>
                <c:pt idx="28">
                  <c:v>345</c:v>
                </c:pt>
                <c:pt idx="29">
                  <c:v>353</c:v>
                </c:pt>
                <c:pt idx="30">
                  <c:v>353</c:v>
                </c:pt>
                <c:pt idx="31">
                  <c:v>358</c:v>
                </c:pt>
                <c:pt idx="32">
                  <c:v>390</c:v>
                </c:pt>
                <c:pt idx="33">
                  <c:v>393</c:v>
                </c:pt>
                <c:pt idx="34">
                  <c:v>399</c:v>
                </c:pt>
                <c:pt idx="35">
                  <c:v>451</c:v>
                </c:pt>
                <c:pt idx="36">
                  <c:v>487</c:v>
                </c:pt>
                <c:pt idx="37">
                  <c:v>493</c:v>
                </c:pt>
                <c:pt idx="38">
                  <c:v>502</c:v>
                </c:pt>
                <c:pt idx="39">
                  <c:v>502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26</c:v>
                </c:pt>
                <c:pt idx="1">
                  <c:v>42</c:v>
                </c:pt>
                <c:pt idx="2">
                  <c:v>43</c:v>
                </c:pt>
                <c:pt idx="3">
                  <c:v>62</c:v>
                </c:pt>
                <c:pt idx="4">
                  <c:v>64</c:v>
                </c:pt>
                <c:pt idx="5">
                  <c:v>72</c:v>
                </c:pt>
                <c:pt idx="6">
                  <c:v>81</c:v>
                </c:pt>
                <c:pt idx="7">
                  <c:v>90</c:v>
                </c:pt>
                <c:pt idx="8">
                  <c:v>93</c:v>
                </c:pt>
                <c:pt idx="9">
                  <c:v>126</c:v>
                </c:pt>
                <c:pt idx="10">
                  <c:v>139</c:v>
                </c:pt>
                <c:pt idx="11">
                  <c:v>143</c:v>
                </c:pt>
                <c:pt idx="12">
                  <c:v>150</c:v>
                </c:pt>
                <c:pt idx="13">
                  <c:v>185</c:v>
                </c:pt>
                <c:pt idx="14">
                  <c:v>221</c:v>
                </c:pt>
                <c:pt idx="15">
                  <c:v>231</c:v>
                </c:pt>
                <c:pt idx="16">
                  <c:v>231</c:v>
                </c:pt>
                <c:pt idx="17">
                  <c:v>233</c:v>
                </c:pt>
                <c:pt idx="18">
                  <c:v>235</c:v>
                </c:pt>
                <c:pt idx="19">
                  <c:v>237</c:v>
                </c:pt>
                <c:pt idx="20">
                  <c:v>237</c:v>
                </c:pt>
                <c:pt idx="21">
                  <c:v>248</c:v>
                </c:pt>
                <c:pt idx="22">
                  <c:v>258</c:v>
                </c:pt>
                <c:pt idx="23">
                  <c:v>262</c:v>
                </c:pt>
                <c:pt idx="24">
                  <c:v>288</c:v>
                </c:pt>
                <c:pt idx="25">
                  <c:v>295</c:v>
                </c:pt>
                <c:pt idx="26">
                  <c:v>310</c:v>
                </c:pt>
                <c:pt idx="27">
                  <c:v>317</c:v>
                </c:pt>
                <c:pt idx="28">
                  <c:v>345</c:v>
                </c:pt>
                <c:pt idx="29">
                  <c:v>353</c:v>
                </c:pt>
                <c:pt idx="30">
                  <c:v>353</c:v>
                </c:pt>
                <c:pt idx="31">
                  <c:v>358</c:v>
                </c:pt>
                <c:pt idx="32">
                  <c:v>390</c:v>
                </c:pt>
                <c:pt idx="33">
                  <c:v>393</c:v>
                </c:pt>
                <c:pt idx="34">
                  <c:v>399</c:v>
                </c:pt>
                <c:pt idx="35">
                  <c:v>451</c:v>
                </c:pt>
                <c:pt idx="36">
                  <c:v>487</c:v>
                </c:pt>
                <c:pt idx="37">
                  <c:v>493</c:v>
                </c:pt>
                <c:pt idx="38">
                  <c:v>502</c:v>
                </c:pt>
                <c:pt idx="39">
                  <c:v>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7-46C0-ACBC-74F99DD323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Actual Patent Count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Predicted Patent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16213A"/>
                </a:solidFill>
                <a:latin typeface="Arial"/>
              </a:rPr>
              <a:t>Prediction Error Distribution (Actual − Predicted)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-120</c:v>
                </c:pt>
                <c:pt idx="1">
                  <c:v>-90</c:v>
                </c:pt>
                <c:pt idx="2">
                  <c:v>-60</c:v>
                </c:pt>
                <c:pt idx="3">
                  <c:v>-30</c:v>
                </c:pt>
                <c:pt idx="4">
                  <c:v>0</c:v>
                </c:pt>
                <c:pt idx="5">
                  <c:v>30</c:v>
                </c:pt>
                <c:pt idx="6">
                  <c:v>60</c:v>
                </c:pt>
                <c:pt idx="7">
                  <c:v>90</c:v>
                </c:pt>
                <c:pt idx="8">
                  <c:v>120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8</c:v>
                </c:pt>
                <c:pt idx="2">
                  <c:v>22</c:v>
                </c:pt>
                <c:pt idx="3">
                  <c:v>55</c:v>
                </c:pt>
                <c:pt idx="4">
                  <c:v>98</c:v>
                </c:pt>
                <c:pt idx="5">
                  <c:v>60</c:v>
                </c:pt>
                <c:pt idx="6">
                  <c:v>28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3-41A6-84E7-11A081A5B0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16213A"/>
                </a:solidFill>
                <a:latin typeface="Arial"/>
              </a:rPr>
              <a:t>Top Feature Coefficients (Linear Regression)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|Coefficient|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patent_count_roll4_mean</c:v>
                </c:pt>
                <c:pt idx="1">
                  <c:v>patent_count_lag1</c:v>
                </c:pt>
                <c:pt idx="2">
                  <c:v>patent_count_roll8_mean</c:v>
                </c:pt>
                <c:pt idx="3">
                  <c:v>patent_count_lag2</c:v>
                </c:pt>
                <c:pt idx="4">
                  <c:v>kw_ai_ml</c:v>
                </c:pt>
                <c:pt idx="5">
                  <c:v>patent_count_qoq</c:v>
                </c:pt>
                <c:pt idx="6">
                  <c:v>keyword_score</c:v>
                </c:pt>
                <c:pt idx="7">
                  <c:v>year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42.1</c:v>
                </c:pt>
                <c:pt idx="1">
                  <c:v>35.6</c:v>
                </c:pt>
                <c:pt idx="2">
                  <c:v>28.4</c:v>
                </c:pt>
                <c:pt idx="3">
                  <c:v>19.2</c:v>
                </c:pt>
                <c:pt idx="4">
                  <c:v>12.8</c:v>
                </c:pt>
                <c:pt idx="5">
                  <c:v>9.5</c:v>
                </c:pt>
                <c:pt idx="6">
                  <c:v>7.1</c:v>
                </c:pt>
                <c:pt idx="7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B-4366-B7FE-640707DA4F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84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3836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0287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PERSPECTIVE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308647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Ericsson Patent Evolution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10382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Next-Quarter Patent Filings from the Innovation Timeline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106042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6" name="TextBox 15"/>
          <p:cNvSpPr txBox="1"/>
          <p:nvPr/>
        </p:nvSpPr>
        <p:spPr>
          <a:xfrm>
            <a:off x="1737360" y="3557248"/>
            <a:ext cx="7510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Team Name: Data Detectives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Team Members: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Ms. </a:t>
            </a:r>
            <a:r>
              <a:rPr lang="en-US" dirty="0" err="1" smtClean="0">
                <a:solidFill>
                  <a:schemeClr val="bg1"/>
                </a:solidFill>
              </a:rPr>
              <a:t>Prameela</a:t>
            </a:r>
            <a:r>
              <a:rPr lang="en-US" dirty="0" smtClean="0">
                <a:solidFill>
                  <a:schemeClr val="bg1"/>
                </a:solidFill>
              </a:rPr>
              <a:t>,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     Dr. Ayesha </a:t>
            </a:r>
            <a:r>
              <a:rPr lang="en-US" dirty="0" err="1" smtClean="0">
                <a:solidFill>
                  <a:schemeClr val="bg1"/>
                </a:solidFill>
              </a:rPr>
              <a:t>Naureen</a:t>
            </a:r>
            <a:r>
              <a:rPr lang="en-US" dirty="0" smtClean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Mr. Sai Kiran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Mrs. </a:t>
            </a:r>
            <a:r>
              <a:rPr lang="en-US" dirty="0" err="1" smtClean="0">
                <a:solidFill>
                  <a:schemeClr val="bg1"/>
                </a:solidFill>
              </a:rPr>
              <a:t>Manasa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6213A"/>
                </a:solidFill>
                <a:latin typeface="Cambria" pitchFamily="34" charset="0"/>
                <a:ea typeface="Cambria" pitchFamily="34" charset="-122"/>
              </a:rPr>
              <a:t>Table of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quarterly patent output?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1089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Innovation Timeline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876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evolution across four tech eras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160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records, 55 columns, target distribution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52120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5650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ML workflow, end to 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Metrics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6948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 compared on RMSE / MAE / R²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1089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694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Story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6948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&amp; XGBoost hit near-zero error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160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694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6948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honest model, key takeaways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Forecast Patent Filings?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264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Ericsson's patent output reflects its R&amp;D investment focus across 5G, AI/ML, cloud-edge, IoT and security. Predicting how many patents will be filed in the upcoming quarter helps R&amp;D leadership plan resourcing, benchmark innovation velocity, and anticipate technology-era shifts before they appear in public filings.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1887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</a:t>
            </a: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74488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9594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historical, quarterly,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keyword-derived patent features,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target_patent_count_next_quarter (a continuous value) — a supervised regression problem.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" y="4469307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</a:t>
            </a: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non-trivial ML problem: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" y="471971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signal hidden inside patent-level rows (lag &amp; rolling features)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types: temporal, text-derived, keyword flags, categorical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leakage from quarter-level aggregates repeated across rows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011680"/>
            <a:ext cx="4297680" cy="4206240"/>
          </a:xfrm>
          <a:prstGeom prst="roundRect">
            <a:avLst>
              <a:gd name="adj" fmla="val 1957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10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35240" y="25786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target_patent_count_next_quarter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356616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240" y="406908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976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35240" y="457200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35240" y="507492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5166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0976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118.6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29500" y="5715000"/>
            <a:ext cx="4549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right-of-center distribution, no major outliers beyond natural range (1–525 patents/quarter).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Evolution Across Four Tech Eras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tech_era feature segments five decades of Ericsson filings into four innovation chapters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43100" y="3794760"/>
            <a:ext cx="850392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60804" y="3712464"/>
            <a:ext cx="164592" cy="164592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D5A8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PRE-1990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Telecom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switching, transmission &amp; analog network patents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95444" y="3712464"/>
            <a:ext cx="164592" cy="164592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1B9AA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3931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2G/3G rollout, base-station &amp; antenna innovation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30084" y="3712464"/>
            <a:ext cx="164592" cy="164592"/>
          </a:xfrm>
          <a:prstGeom prst="ellipse">
            <a:avLst/>
          </a:prstGeom>
          <a:solidFill>
            <a:srgbClr val="3EB6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EB6A8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7395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Devices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4G/LTE, data, cloud-edge &amp; device-software patents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364724" y="371246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F2A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0859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0859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5G Era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5G, AI/ML, IoT, security &amp; energy-efficiency patents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55371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signals tracked per era: kw_5g · kw_ai_ml · kw_cloud_edge · kw_security · kw_iot · kw_network · kw_energy · kw_antenna · kw_data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4088" y="519379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3294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349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Angle: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2432304" y="5161085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tech_era and keyword flags are one-hot / binary encoded so the model can learn era-specific filing velocity — e.g. AI/ML and 5G keyword density rising sharply in the Modern (2020s) era drives higher predicted patent counts.</a:t>
            </a:r>
            <a:endParaRPr lang="en-US" sz="2000" b="1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431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patent records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 (post-encoding)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782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 (408)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1418293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adamvakar/ericsson-innovation-timeline-patent-evolution</a:t>
            </a:r>
            <a:endParaRPr lang="en-US" sz="1600" b="1" dirty="0">
              <a:solidFill>
                <a:srgbClr val="002060"/>
              </a:solidFill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44753"/>
              </p:ext>
            </p:extLst>
          </p:nvPr>
        </p:nvGraphicFramePr>
        <p:xfrm>
          <a:off x="457200" y="3126470"/>
          <a:ext cx="1088136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patent_id, patent_type, patent_date, patent_title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record metadata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quarter, month, day_of_week, day_of_year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positioning of each filing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Text-derived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title_len_chars, title_len_words, title_has_number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NLP-style signals from patent titles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flags &amp; counts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kw_ai_ml, kw_5g, kw_iot, keyword_score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Technology-topic indicators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patent_count, utility_share, design_share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Quarter-level summary stats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/ rolling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patent_count_lag1/2/4, roll4_mean, roll8_mean, qoq, yoy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trend capture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tech_era, patent_type (one-hot encoded)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&amp; filing-type context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target_patent_count_next_quarter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predict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651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 </a:t>
            </a: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rows × 55 columns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28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target column — 408 rows (1.35%), confined to the most recent quarter (no future label yet)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40050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0050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 </a:t>
            </a:r>
            <a:r>
              <a:rPr lang="en-US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none found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6817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columns:  </a:t>
            </a: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patent_id, patent_type, patent_date, patent_title, quarter_end, tech_era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53218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distribution:  </a:t>
            </a: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Right-leaning, continuous, range 1–525, mean ≈ 300.6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2160" y="1933567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Correlations with Target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26480" y="2578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(top 15 numeric features) shows the strongest linear relationships: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patent_count_roll4_mean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31546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3154680"/>
            <a:ext cx="2234794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3074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5204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356616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3566160"/>
            <a:ext cx="2163470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61750" y="3502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patent_count_roll8_mean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397764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3977640"/>
            <a:ext cx="2115922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0" name="Text 28"/>
          <p:cNvSpPr/>
          <p:nvPr/>
        </p:nvSpPr>
        <p:spPr>
          <a:xfrm>
            <a:off x="11214202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4343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2560" y="438912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4389120"/>
            <a:ext cx="2044598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11142878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4754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52560" y="480060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7" name="Shape 35"/>
          <p:cNvSpPr/>
          <p:nvPr/>
        </p:nvSpPr>
        <p:spPr>
          <a:xfrm>
            <a:off x="9052560" y="4800600"/>
            <a:ext cx="1854403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8" name="Text 36"/>
          <p:cNvSpPr/>
          <p:nvPr/>
        </p:nvSpPr>
        <p:spPr>
          <a:xfrm>
            <a:off x="10952683" y="47365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5166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52120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1" name="Shape 39"/>
          <p:cNvSpPr/>
          <p:nvPr/>
        </p:nvSpPr>
        <p:spPr>
          <a:xfrm>
            <a:off x="9052560" y="5212080"/>
            <a:ext cx="998525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2" name="Text 40"/>
          <p:cNvSpPr/>
          <p:nvPr/>
        </p:nvSpPr>
        <p:spPr>
          <a:xfrm>
            <a:off x="10096805" y="5148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5532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rolling-average features dominate the correlation table — a strong early signal that the target is itself derived from historical patent_count aggregates.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Pipeline — Architecture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2638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5790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5790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5790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× 55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 (df_raw)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1831086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36242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09394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09394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09394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nulls,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dupes, correlations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234690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9846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12998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2998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2998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dtypes, drop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null-target rows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4638294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43450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660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6602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6602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patent_type, tech_era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041898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47054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0206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0206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20206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7445502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0658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23810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3810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23810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X_train_scaled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8849106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54262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27414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27414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27414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set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0252710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357866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431018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431018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31018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error</a:t>
            </a:r>
            <a:endParaRPr lang="en-US" sz="7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export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32638" y="4206240"/>
            <a:ext cx="11123676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958" y="4343400"/>
            <a:ext cx="10575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Five Models Trained in Parallel on the Same Scaled Features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29387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9387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5983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983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(L2)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2579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579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(L1)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9175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175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5771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5771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Regression Models, One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hyperplane through scaled features.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834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9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L2 penalty; tames multicollinearity among lag features.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971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baseline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120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07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5907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85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can shrink weak feature coefficients to exactly zero.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257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feature selection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406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2286000"/>
            <a:ext cx="512064" cy="51206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71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captures non-linear, interaction effects.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543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B9AAA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692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79024" y="2286000"/>
            <a:ext cx="512064" cy="51206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9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29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57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trees; iteratively corrects residual errors.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9829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B9AAA"/>
          </a:solidFill>
          <a:ln/>
        </p:spPr>
      </p:sp>
      <p:sp>
        <p:nvSpPr>
          <p:cNvPr id="38" name="Text 36"/>
          <p:cNvSpPr/>
          <p:nvPr/>
        </p:nvSpPr>
        <p:spPr>
          <a:xfrm>
            <a:off x="9829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identical X_train_scaled (StandardScaler, fit on training data only) and evaluated on the same held-out test set for a fair comparison.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Results — RMSE · MAE · R²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43100"/>
              </p:ext>
            </p:extLst>
          </p:nvPr>
        </p:nvGraphicFramePr>
        <p:xfrm>
          <a:off x="548640" y="1965960"/>
          <a:ext cx="5486400" cy="2651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30.7436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rows = suspiciously perfect scores (see next slide — data leakage).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Linear-family models (Linear / Ridge / Lasso) sit within 0.0002 of each other — regularisation has almost no effect, meaning multicollinearity is mild once lag/rolling features are included.</a:t>
            </a:r>
            <a:endParaRPr lang="en-US" sz="1400" dirty="0">
              <a:solidFill>
                <a:srgbClr val="002060"/>
              </a:solidFill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606878392"/>
              </p:ext>
            </p:extLst>
          </p:nvPr>
        </p:nvGraphicFramePr>
        <p:xfrm>
          <a:off x="6309360" y="1490472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4229356636"/>
              </p:ext>
            </p:extLst>
          </p:nvPr>
        </p:nvGraphicFramePr>
        <p:xfrm>
          <a:off x="6428232" y="4119372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4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Hit R² ≈ 1.0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0.0241 and MAE = 0.0012 are not a modeling win — they are a leakage signature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93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Quarter-level</a:t>
            </a: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target, row-level rows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2951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target_patent_count_next_quarter and the lag/rolling features (lag1, lag2, lag4, roll4_mean, roll8_mean, qoq, yoy) are aggregated at the (year, quarter) level — but every individual patent row within that quarter repeats the exact same value.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63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row-wise split, not time-based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34440" y="352958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 with random_state=42 shuffles rows freely. Because many patents share the same quarter, the identical (year, quarter) combination — and therefore the identical target value — appears in BOTH the training and test sets.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398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memorise, linear models can't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4440" y="476402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split on lag &amp; rolling features and can carve out a leaf for each exact (year, quarter) combination seen in training — effectively memorising the answer. Linear models can only fit a smooth global trend, so they stay at a realistic R² ≈ 0.885.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13294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52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treat the linear-family R² ≈ 0.885 as the trustworthy benchmark; the tree-ensemble scores require a time-aware (GroupKFold by quarter, or chronological) split before they can be believed.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 — Best Model (Random Forest)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577537563"/>
              </p:ext>
            </p:extLst>
          </p:nvPr>
        </p:nvGraphicFramePr>
        <p:xfrm>
          <a:off x="548640" y="201168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201168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21945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plot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86600" y="2545826"/>
            <a:ext cx="4343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= one test-set patent row: x = actual next-quarter count, y = model prediction.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perfect prediction (y = x).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Random Forest, every point lands essentially ON the diagonal — visual confirmation of the R² ≈ 1.0 / RMSE ≈ 0.02 result.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tight fit is the leakage symptom described earlier, not genuine forecasting skill.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Distribution &amp; Feature Importance (Linear Regression)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1168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852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error: 1.22  (≈0 → unbiased)      Std of error: 39.81</a:t>
            </a:r>
            <a:endParaRPr lang="en-US" sz="160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1"/>
          <p:cNvGraphicFramePr/>
          <p:nvPr/>
        </p:nvGraphicFramePr>
        <p:xfrm>
          <a:off x="6263640" y="2011680"/>
          <a:ext cx="5394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715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graphs point the same direction: historical patent volume (lag &amp; rolling-average features) is the dominant driver of next-quarter predictions, far ahead of keyword or calendar signals.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 — Linear Regression (Test Rows)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00800" cy="4023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201168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0664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residuals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51192" y="2560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rows: error within ±20 patents on a target ranging 1–525 — a realistic, usable forecast band.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 is the outlier: actual 207 vs predicted 118.8 (error 88.2) — likely a quarter where keyword/era signals diverged from the recent trend.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honest spread (mean error ≈1.2, std ≈39.8) is what a deployable model looks like — unlike the suspiciously flawless tree-ensemble output.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/ Lasso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54680" cy="2583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0.885 — explains 88.5% of variance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39.8, MAE ≈ 30.7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performance — no leakage exposure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reporting &amp; forecasting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628413"/>
            <a:ext cx="3611880" cy="3305459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1168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1.0000, RMSE = 0.0241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error driven by quarter-level leakage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Memorises (year, quarter) via tree splits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trustworthy as-is for deployment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time-aware re-validation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01168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2628414"/>
            <a:ext cx="3154680" cy="2880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1.0000, RMSE = 0.5918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leakage exposure as Random Forest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error than RF — less perfect overfit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unsafe to deploy without re-split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 once leakage is fixed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9-stage pipeline cleaned 30,118 Ericsson patent records into 23 model-ready features spanning four innovation eras.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Linear-family models (Linear, Ridge, Lasso) deliver a trustworthy R² ≈ 0.885 — the model explains ~88.5% of next-quarter patent-count variance using temporal, keyword, and lag/rolling signals.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51129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XGBoost's near-perfect scores (R² ≈ 1.0) are a data-leakage artifact from row-wise (not time-aware) splitting of quarter-level aggregates — a critical lesson, not a finished result.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3525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and rolling-average features (patent_count_lag1, roll4_mean, roll8_mean) are the strongest predictors — recent filing momentum drives near-term forecasts more than any single keyword.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193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re-split chronologically (or GroupKFold by year-quarter) and re-evaluate tree ensembles to get an honest, deployable forecasting model for Ericsson's R&amp;D planning.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08" y="35204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— Machine Learning Forecasting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1928</Words>
  <Application>Microsoft Office PowerPoint</Application>
  <PresentationFormat>Widescreen</PresentationFormat>
  <Paragraphs>411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Ericsson Patent Evolution — ML Forecasting Pipeline</dc:title>
  <dc:subject>PptxGenJS Presentation</dc:subject>
  <dc:creator>ML Pipeline Team</dc:creator>
  <cp:lastModifiedBy>Ayesha Khan</cp:lastModifiedBy>
  <cp:revision>6</cp:revision>
  <dcterms:created xsi:type="dcterms:W3CDTF">2026-06-21T15:38:18Z</dcterms:created>
  <dcterms:modified xsi:type="dcterms:W3CDTF">2026-06-21T16:21:22Z</dcterms:modified>
</cp:coreProperties>
</file>